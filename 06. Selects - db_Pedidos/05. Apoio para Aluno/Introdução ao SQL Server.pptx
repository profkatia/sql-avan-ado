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33"/>
  </p:notesMasterIdLst>
  <p:handoutMasterIdLst>
    <p:handoutMasterId r:id="rId34"/>
  </p:handoutMasterIdLst>
  <p:sldIdLst>
    <p:sldId id="258" r:id="rId2"/>
    <p:sldId id="269" r:id="rId3"/>
    <p:sldId id="270" r:id="rId4"/>
    <p:sldId id="271" r:id="rId5"/>
    <p:sldId id="274" r:id="rId6"/>
    <p:sldId id="275" r:id="rId7"/>
    <p:sldId id="276" r:id="rId8"/>
    <p:sldId id="277" r:id="rId9"/>
    <p:sldId id="279" r:id="rId10"/>
    <p:sldId id="278" r:id="rId11"/>
    <p:sldId id="280" r:id="rId12"/>
    <p:sldId id="281" r:id="rId13"/>
    <p:sldId id="282" r:id="rId14"/>
    <p:sldId id="284" r:id="rId15"/>
    <p:sldId id="283" r:id="rId16"/>
    <p:sldId id="285" r:id="rId17"/>
    <p:sldId id="286" r:id="rId18"/>
    <p:sldId id="287" r:id="rId19"/>
    <p:sldId id="290" r:id="rId20"/>
    <p:sldId id="291" r:id="rId21"/>
    <p:sldId id="294" r:id="rId22"/>
    <p:sldId id="295" r:id="rId23"/>
    <p:sldId id="307" r:id="rId24"/>
    <p:sldId id="308" r:id="rId25"/>
    <p:sldId id="309" r:id="rId26"/>
    <p:sldId id="296" r:id="rId27"/>
    <p:sldId id="297" r:id="rId28"/>
    <p:sldId id="298" r:id="rId29"/>
    <p:sldId id="299" r:id="rId30"/>
    <p:sldId id="300" r:id="rId31"/>
    <p:sldId id="301" r:id="rId32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ção" id="{45CEFEB3-061D-4B08-9410-3298C7ECCEC2}">
          <p14:sldIdLst/>
        </p14:section>
        <p14:section name="A linguagem SQL" id="{D68C392B-6A23-4937-AFF8-CD755A3E69DE}">
          <p14:sldIdLst>
            <p14:sldId id="258"/>
          </p14:sldIdLst>
        </p14:section>
        <p14:section name="Consultas SQL" id="{D8017A75-7040-4C4A-AD66-CFD347323C53}">
          <p14:sldIdLst>
            <p14:sldId id="269"/>
            <p14:sldId id="270"/>
            <p14:sldId id="271"/>
            <p14:sldId id="274"/>
            <p14:sldId id="275"/>
            <p14:sldId id="276"/>
            <p14:sldId id="277"/>
            <p14:sldId id="279"/>
            <p14:sldId id="278"/>
            <p14:sldId id="280"/>
            <p14:sldId id="281"/>
            <p14:sldId id="282"/>
            <p14:sldId id="284"/>
            <p14:sldId id="283"/>
            <p14:sldId id="285"/>
            <p14:sldId id="286"/>
            <p14:sldId id="287"/>
            <p14:sldId id="290"/>
            <p14:sldId id="291"/>
            <p14:sldId id="294"/>
            <p14:sldId id="295"/>
            <p14:sldId id="307"/>
            <p14:sldId id="308"/>
            <p14:sldId id="309"/>
            <p14:sldId id="296"/>
            <p14:sldId id="297"/>
            <p14:sldId id="298"/>
            <p14:sldId id="299"/>
            <p14:sldId id="300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B6489F2-E6CA-4ECE-AC3B-C02D2F97E243}" v="72" dt="2019-09-11T21:05:55.5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Estilo Médio 2 - Ênfase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4" d="100"/>
          <a:sy n="74" d="100"/>
        </p:scale>
        <p:origin x="994" y="28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F82BE4C0-06DC-49EA-AF55-3BE07684CFB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23B3A2-DE5F-4862-89F4-B2B8DF5F92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94AB1C8F-FB1B-4324-A532-F8C30B383C4A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497DF6C-9F35-4667-962A-20023CA177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r>
              <a:rPr lang="pt-BR"/>
              <a:t>Microsoft Excel VBA Módulo II</a:t>
            </a:r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819A6CC-E2D5-4EBA-97AE-8CA570F8AA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8AFDCD82-A8E4-4E96-9CB0-5D61B3CCFAC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41527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39EF51A4-6AB0-480C-8050-1239BA2868DE}" type="datetimeFigureOut">
              <a:rPr lang="pt-BR" smtClean="0"/>
              <a:t>26/02/2025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r>
              <a:rPr lang="pt-BR"/>
              <a:t>Microsoft Excel VBA Módulo II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84571905-D285-442D-9BD0-5B327374164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66256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CFB5E1-C224-49DE-A9FB-3D3D3105F2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559928-2CBF-4658-8107-03DDA1CBF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6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8D3327F-7740-4483-ABCD-77112EAE6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47069-5196-4648-A946-A08ECFBCE431}" type="datetime1">
              <a:rPr lang="pt-BR" smtClean="0"/>
              <a:t>26/02/2025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7CAE550-EC77-415E-AD7F-3DF64CD79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165152-49A0-46F1-B4AE-2200C09B3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75040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C1844-5994-4DAF-994C-64CA39C2F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60BE3B-F77B-44E6-B858-F0CC1E256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7CBF8B-F754-4CDA-9013-215ADBAA3D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D46DF6-F2D5-477F-A484-3ABB3AB4C4AB}" type="datetime1">
              <a:rPr lang="pt-BR" smtClean="0"/>
              <a:t>26/02/2025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9EB505-C267-4268-A1ED-A73E586D5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8D53A9-8AFE-430F-B9FD-4C6228FC8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0292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F1CF85-DA2D-4E81-8B12-5EE0AAD3E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BF5106-5389-45AB-AACC-4ECF2AA5E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4110AB1-4241-4D63-BCDF-A5AB6378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F0B1B-EE0E-4116-85A0-5AAEAEFD967F}" type="datetime1">
              <a:rPr lang="pt-BR" smtClean="0"/>
              <a:t>26/02/2025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D5F9DA-36DB-4600-B079-658EE8D6B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AAA28A-EE85-460A-ABD3-C7A002908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19831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789A7-5BE5-404E-8F8C-05EE61850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F8B0B0-9AEB-471B-9663-B80EB2E4E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E64117-C07B-4875-85B9-4FAA321AE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89FF8AD-9E6A-4A5C-B412-0ACFB70DB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DEF55-73F6-4F78-9746-A46F628CD087}" type="datetime1">
              <a:rPr lang="pt-BR" smtClean="0"/>
              <a:t>26/02/2025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248916-25A9-47B9-8802-FBCB13056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0F6B77-4CD1-43B7-884E-FE3378DF4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341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320697-CCE6-4C23-878A-8572994B0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BC4C6EC-A137-4045-9AC8-1A54C6249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BC82CB4-C2D9-4418-9DA7-5EDF9DE8DF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E66D326-0352-48AC-909B-EF216AF9E6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61A28B6-2EF3-4BE4-8CD5-D21CF52C4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9D73C5B-6D03-4D46-A08A-9A020CDAB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9B62E-6BE6-4253-AA72-22FA662DE82F}" type="datetime1">
              <a:rPr lang="pt-BR" smtClean="0"/>
              <a:t>26/02/2025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A6E3493-DC4F-46F0-A4B9-4B95A4156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00CD5F1D-EFDC-4E70-B521-217901365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051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6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BA25D-7EA9-4DE4-AECD-BE5BC3438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F2BF2FC-671D-45DA-B5A8-C53CB251A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5064DF-D237-4D7A-A7C0-D1D93C960269}" type="datetime1">
              <a:rPr lang="pt-BR" smtClean="0"/>
              <a:t>26/02/2025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C0BE9B6-80AF-49BB-BF50-3DE6DD4DA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664AC62-CA5A-427B-B2A9-3E0D27729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69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F553CC9-CD1D-4782-A30D-C61A7C48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1131D2-4DBB-40CE-B7B1-FD186FA9E07B}" type="datetime1">
              <a:rPr lang="pt-BR" smtClean="0"/>
              <a:t>26/02/2025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E6B4985-DE76-4D9D-A51B-FBEBA7E4D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DFB9694-D0CC-4BF8-9326-5CF45E120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2668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3CF51AA-CFA2-41EF-8165-F1A8BB9AF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399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570C0B9-A95B-49A4-A4B9-277B90CB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38102"/>
            <a:ext cx="10515600" cy="47388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35DF72B-0CE1-4977-814B-4627001DB5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0F721-04F4-4667-BF35-4741C80794AC}" type="datetime1">
              <a:rPr lang="pt-BR" smtClean="0"/>
              <a:t>26/02/2025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1FA7F3-D92D-425C-ABB1-36A899CA42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78ECEC5-68FC-4DDB-87C5-43263D64C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A9E3B6-737F-4CA7-98B8-1381CDCC1EA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7816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Wingdings 2" panose="05020102010507070707" pitchFamily="18" charset="2"/>
        <a:buChar char="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810000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Wingdings" panose="05000000000000000000" pitchFamily="2" charset="2"/>
        <a:buChar char="§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6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Segoe UI" panose="020B0502040204020203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3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Segoe UI" panose="020B0502040204020203" pitchFamily="34" charset="0"/>
        <a:buChar char="-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070000" indent="-234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>
            <a:lumMod val="75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33C992-90A1-4E80-8580-EA9073052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Consultas SQL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F2CE2E1-65C8-407E-A91E-41C0E0300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</a:t>
            </a:fld>
            <a:endParaRPr lang="pt-BR" dirty="0"/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25FC968F-70B9-4D86-8395-E56A81E306E1}"/>
              </a:ext>
            </a:extLst>
          </p:cNvPr>
          <p:cNvSpPr txBox="1">
            <a:spLocks/>
          </p:cNvSpPr>
          <p:nvPr/>
        </p:nvSpPr>
        <p:spPr>
          <a:xfrm>
            <a:off x="831850" y="382588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accent1">
                    <a:lumMod val="7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t-BR" sz="3600" dirty="0"/>
          </a:p>
          <a:p>
            <a:r>
              <a:rPr lang="pt-BR" dirty="0"/>
              <a:t>Capítulo 5</a:t>
            </a:r>
          </a:p>
        </p:txBody>
      </p:sp>
    </p:spTree>
    <p:extLst>
      <p:ext uri="{BB962C8B-B14F-4D97-AF65-F5344CB8AC3E}">
        <p14:creationId xmlns:p14="http://schemas.microsoft.com/office/powerpoint/2010/main" val="667480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3A7CF0-69C4-4FC5-9EEA-142DD43B0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Consulta 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9EA2F0-9EAE-4CEB-8215-9CCA65884C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Comando que possibilita a recuperação, inserção, edição e exclusão de dados em uma tabela do banco de dados</a:t>
            </a:r>
          </a:p>
          <a:p>
            <a:endParaRPr lang="pt-BR" dirty="0"/>
          </a:p>
          <a:p>
            <a:r>
              <a:rPr lang="pt-BR" dirty="0"/>
              <a:t>As instruções são formadas por palavras-chave chamadas de “cláusulas”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DD6AD1-C8BF-4179-B1B8-6DB9772A2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41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6DD21-8FCE-4867-BAEF-99FE0C220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Instruções de manipulação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C57EBE-023B-49F0-8E2D-156133E875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SELECT</a:t>
            </a:r>
            <a:r>
              <a:rPr lang="pt-BR" dirty="0"/>
              <a:t>: recupera dados de uma ou mais tabelas</a:t>
            </a:r>
          </a:p>
          <a:p>
            <a:r>
              <a:rPr lang="pt-BR" b="1" dirty="0"/>
              <a:t>INSERT</a:t>
            </a:r>
            <a:r>
              <a:rPr lang="pt-BR" dirty="0"/>
              <a:t>: insere novos registros em uma tabela</a:t>
            </a:r>
          </a:p>
          <a:p>
            <a:r>
              <a:rPr lang="pt-BR" b="1" dirty="0"/>
              <a:t>UPDATE</a:t>
            </a:r>
            <a:r>
              <a:rPr lang="pt-BR" dirty="0"/>
              <a:t>: edita (atualiza) registros de uma tabela</a:t>
            </a:r>
          </a:p>
          <a:p>
            <a:r>
              <a:rPr lang="pt-BR" b="1" dirty="0"/>
              <a:t>DELETE</a:t>
            </a:r>
            <a:r>
              <a:rPr lang="pt-BR" dirty="0"/>
              <a:t>: remove registro de uma tabela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BA5259B-3450-4912-B74F-C64F82F1F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9960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606B1-D0F4-4743-A25D-8F5F20598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SELECT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12D962-3D6C-42B5-AFE0-82C0CE915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Informa quais campos deverão ser retornados na consulta</a:t>
            </a:r>
          </a:p>
          <a:p>
            <a:pPr lvl="1"/>
            <a:r>
              <a:rPr lang="pt-BR" dirty="0"/>
              <a:t>Separar os campos (colunas) com vírgulas</a:t>
            </a:r>
          </a:p>
          <a:p>
            <a:pPr lvl="1"/>
            <a:r>
              <a:rPr lang="pt-BR" dirty="0"/>
              <a:t>Nomes de campos com várias palavras precisam estar entre colchetes</a:t>
            </a:r>
          </a:p>
          <a:p>
            <a:pPr lvl="1"/>
            <a:r>
              <a:rPr lang="pt-BR" dirty="0"/>
              <a:t>Nomes de campos vindos de tabelas diferentes necessitam do nome da tabela antes, seguido de um caractere de ponto</a:t>
            </a:r>
          </a:p>
          <a:p>
            <a:pPr lvl="1"/>
            <a:r>
              <a:rPr lang="pt-BR" dirty="0"/>
              <a:t>Para representar todos os campos usar o asterisco (</a:t>
            </a:r>
            <a:r>
              <a:rPr lang="pt-BR" b="1" dirty="0"/>
              <a:t>*</a:t>
            </a:r>
            <a:r>
              <a:rPr lang="pt-BR" dirty="0"/>
              <a:t>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916A61-7B49-44A5-A2D4-052404B6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1808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6606B1-D0F4-4743-A25D-8F5F20598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Cláusula FROM</a:t>
            </a:r>
            <a:br>
              <a:rPr lang="pt-BR" dirty="0"/>
            </a:br>
            <a:r>
              <a:rPr lang="pt-BR" dirty="0"/>
              <a:t>(origem dos dados)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812D962-3D6C-42B5-AFE0-82C0CE915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/>
              <a:t>Informa de quais tabelas os dados serão extraídos e de que forma estão relacionadas</a:t>
            </a:r>
          </a:p>
          <a:p>
            <a:endParaRPr lang="pt-BR" dirty="0"/>
          </a:p>
          <a:p>
            <a:pPr lvl="1"/>
            <a:r>
              <a:rPr lang="pt-BR" dirty="0"/>
              <a:t>Nomes de tabelas com várias palavras precisam estar entre colchetes</a:t>
            </a:r>
          </a:p>
          <a:p>
            <a:pPr lvl="1"/>
            <a:endParaRPr lang="pt-BR" dirty="0"/>
          </a:p>
          <a:p>
            <a:pPr lvl="1"/>
            <a:r>
              <a:rPr lang="pt-BR" dirty="0"/>
              <a:t>Um parâmetro opcional pode informar condições de recuperação dos dados, como classificações, filtragens e agrupamentos</a:t>
            </a:r>
          </a:p>
          <a:p>
            <a:pPr lvl="1"/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916A61-7B49-44A5-A2D4-052404B65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65995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0EC03-794F-4B50-AAD8-F375A9779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Sintaxe para SELECT e FROM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5A61C1-5DF8-4F43-BAE0-B4E9EC2F8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/>
              <a:t>SELECT</a:t>
            </a:r>
            <a:r>
              <a:rPr lang="pt-BR" dirty="0"/>
              <a:t> [</a:t>
            </a:r>
            <a:r>
              <a:rPr lang="pt-BR" i="1" dirty="0"/>
              <a:t>tipo</a:t>
            </a:r>
            <a:r>
              <a:rPr lang="pt-BR" dirty="0"/>
              <a:t>] </a:t>
            </a:r>
            <a:r>
              <a:rPr lang="pt-BR" i="1" dirty="0"/>
              <a:t>colunas</a:t>
            </a:r>
            <a:r>
              <a:rPr lang="pt-BR" dirty="0"/>
              <a:t> </a:t>
            </a:r>
            <a:r>
              <a:rPr lang="pt-BR" b="1" dirty="0"/>
              <a:t>FROM</a:t>
            </a:r>
            <a:r>
              <a:rPr lang="pt-BR" dirty="0"/>
              <a:t> </a:t>
            </a:r>
            <a:r>
              <a:rPr lang="pt-BR" i="1" dirty="0"/>
              <a:t>tabela</a:t>
            </a:r>
            <a:r>
              <a:rPr lang="pt-BR" dirty="0"/>
              <a:t> [</a:t>
            </a:r>
            <a:r>
              <a:rPr lang="pt-BR" i="1" dirty="0"/>
              <a:t>condição</a:t>
            </a:r>
            <a:r>
              <a:rPr lang="pt-BR" dirty="0"/>
              <a:t>];</a:t>
            </a:r>
          </a:p>
          <a:p>
            <a:r>
              <a:rPr lang="pt-BR" dirty="0"/>
              <a:t>Exemplos: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* FROM CLIENTES; ( 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</a:rPr>
              <a:t>evite</a:t>
            </a:r>
            <a:r>
              <a:rPr lang="pt-BR" b="1" dirty="0">
                <a:latin typeface="Consolas" panose="020B0609020204030204" pitchFamily="49" charset="0"/>
              </a:rPr>
              <a:t> )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ID_PRODUTO, DESCR, PRE_BASE FROM PRODUTOS;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[ID Produto], </a:t>
            </a:r>
            <a:r>
              <a:rPr lang="pt-BR" b="1" dirty="0" err="1">
                <a:latin typeface="Consolas" panose="020B0609020204030204" pitchFamily="49" charset="0"/>
              </a:rPr>
              <a:t>Descr</a:t>
            </a:r>
            <a:r>
              <a:rPr lang="pt-BR" b="1" dirty="0">
                <a:latin typeface="Consolas" panose="020B0609020204030204" pitchFamily="49" charset="0"/>
              </a:rPr>
              <a:t>, [Preço Base] FROM PRODUTOS;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PRODUTOS.ID_PRODUTO, PRODUTOS.PRE_BASE FROM PRODUTOS;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3CA381-B5B5-4141-BA21-3436FD3D1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8237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364D34-1146-482E-9FB3-4CD441C933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Renomear colunas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64C3B5-47CB-4DA0-ADE3-559EC5AD0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59410" indent="-359410"/>
            <a:r>
              <a:rPr lang="pt-BR" dirty="0"/>
              <a:t>Objetivo de atribuir nomes mais “amigáveis”</a:t>
            </a:r>
          </a:p>
          <a:p>
            <a:pPr marL="359410" indent="-359410"/>
            <a:r>
              <a:rPr lang="pt-BR" dirty="0"/>
              <a:t>Usa-se a palavra-chave </a:t>
            </a:r>
            <a:r>
              <a:rPr lang="pt-BR" b="1" dirty="0"/>
              <a:t>AS</a:t>
            </a:r>
            <a:r>
              <a:rPr lang="pt-BR" dirty="0"/>
              <a:t> após o nome original</a:t>
            </a:r>
            <a:endParaRPr lang="pt-BR" b="1" dirty="0">
              <a:cs typeface="Segoe UI"/>
            </a:endParaRPr>
          </a:p>
          <a:p>
            <a:pPr marL="359410" indent="-359410"/>
            <a:r>
              <a:rPr lang="pt-BR" dirty="0">
                <a:ea typeface="+mn-lt"/>
                <a:cs typeface="+mn-lt"/>
              </a:rPr>
              <a:t>Sintaxe:</a:t>
            </a:r>
          </a:p>
          <a:p>
            <a:pPr marL="809625" lvl="1" indent="-359410"/>
            <a:r>
              <a:rPr lang="pt-BR" b="1" dirty="0">
                <a:latin typeface="Consolas"/>
                <a:ea typeface="+mn-lt"/>
                <a:cs typeface="+mn-lt"/>
              </a:rPr>
              <a:t>SELECT </a:t>
            </a:r>
            <a:r>
              <a:rPr lang="pt-BR" i="1" dirty="0">
                <a:latin typeface="Consolas"/>
                <a:ea typeface="+mn-lt"/>
                <a:cs typeface="+mn-lt"/>
              </a:rPr>
              <a:t>coluna1 </a:t>
            </a:r>
            <a:r>
              <a:rPr lang="pt-BR" b="1" dirty="0">
                <a:latin typeface="Consolas"/>
                <a:ea typeface="+mn-lt"/>
                <a:cs typeface="+mn-lt"/>
              </a:rPr>
              <a:t>AS [</a:t>
            </a:r>
            <a:r>
              <a:rPr lang="pt-BR" i="1" dirty="0">
                <a:latin typeface="Consolas"/>
                <a:ea typeface="+mn-lt"/>
                <a:cs typeface="+mn-lt"/>
              </a:rPr>
              <a:t>nome1</a:t>
            </a:r>
            <a:r>
              <a:rPr lang="pt-BR" b="1" dirty="0">
                <a:latin typeface="Consolas"/>
                <a:ea typeface="+mn-lt"/>
                <a:cs typeface="+mn-lt"/>
              </a:rPr>
              <a:t>], </a:t>
            </a:r>
            <a:r>
              <a:rPr lang="pt-BR" i="1" dirty="0">
                <a:latin typeface="Consolas"/>
                <a:ea typeface="+mn-lt"/>
                <a:cs typeface="+mn-lt"/>
              </a:rPr>
              <a:t>coluna2 </a:t>
            </a:r>
            <a:r>
              <a:rPr lang="pt-BR" b="1" dirty="0">
                <a:latin typeface="Consolas"/>
                <a:ea typeface="+mn-lt"/>
                <a:cs typeface="+mn-lt"/>
              </a:rPr>
              <a:t>AS [</a:t>
            </a:r>
            <a:r>
              <a:rPr lang="pt-BR" i="1" dirty="0">
                <a:latin typeface="Consolas"/>
                <a:ea typeface="+mn-lt"/>
                <a:cs typeface="+mn-lt"/>
              </a:rPr>
              <a:t>nome2</a:t>
            </a:r>
            <a:r>
              <a:rPr lang="pt-BR" b="1" dirty="0">
                <a:latin typeface="Consolas"/>
                <a:ea typeface="+mn-lt"/>
                <a:cs typeface="+mn-lt"/>
              </a:rPr>
              <a:t>],... FROM </a:t>
            </a:r>
            <a:r>
              <a:rPr lang="pt-BR" i="1" dirty="0">
                <a:latin typeface="Consolas"/>
                <a:ea typeface="+mn-lt"/>
                <a:cs typeface="+mn-lt"/>
              </a:rPr>
              <a:t>tabela</a:t>
            </a:r>
            <a:r>
              <a:rPr lang="pt-BR" b="1" dirty="0">
                <a:latin typeface="Consolas"/>
                <a:ea typeface="+mn-lt"/>
                <a:cs typeface="+mn-lt"/>
              </a:rPr>
              <a:t>;</a:t>
            </a:r>
            <a:endParaRPr lang="pt-BR" b="1">
              <a:latin typeface="Consolas"/>
              <a:cs typeface="Segoe UI"/>
            </a:endParaRPr>
          </a:p>
          <a:p>
            <a:pPr marL="359410" indent="-359410"/>
            <a:r>
              <a:rPr lang="pt-BR" dirty="0"/>
              <a:t>Exemplo:</a:t>
            </a:r>
            <a:endParaRPr lang="pt-BR" dirty="0">
              <a:cs typeface="Segoe UI"/>
            </a:endParaRPr>
          </a:p>
          <a:p>
            <a:pPr marL="809625" lvl="1" indent="-359410"/>
            <a:r>
              <a:rPr lang="pt-BR" b="1" dirty="0">
                <a:latin typeface="Consolas" panose="020B0609020204030204" pitchFamily="49" charset="0"/>
              </a:rPr>
              <a:t>SELECT DESCRIÇÃO AS Produto, PRE_BASE AS [Preço Base] FROM PRODUTOS;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D1B683-082C-45F8-BEF0-0B109BC0D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52126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E87ACE-9B16-41D8-ACB2-FE968F0C6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Colunas virtuais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714630-A120-4CCC-B6E1-60033ACE8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Existem apenas na memória não persistente</a:t>
            </a:r>
          </a:p>
          <a:p>
            <a:r>
              <a:rPr lang="pt-BR" dirty="0"/>
              <a:t>Recebem nomes temporários</a:t>
            </a:r>
          </a:p>
          <a:p>
            <a:r>
              <a:rPr lang="pt-BR" dirty="0"/>
              <a:t>Podem conter constantes e fórmulas</a:t>
            </a:r>
          </a:p>
          <a:p>
            <a:r>
              <a:rPr lang="pt-BR" dirty="0"/>
              <a:t>Exemplos: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NOME AS Cliente, CPF, 'OK' AS Verificado FROM CLIENTES;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ID_PROD, PRECO, 0.05 AS DESC FROM PRODUTOS;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2F6B38A-AC27-4DC6-BBD1-778790FD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2205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3F66FF-ABBA-4703-97A8-7BE7A7B10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Colunas virtuais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392D93-03B9-438E-A319-7BE146ACDD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Podemos colocar o nome de coluna virtual no mesmo comando: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DESCRIÇÃO, PRE_BASE * 0.05 AS 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</a:rPr>
              <a:t>Desconto</a:t>
            </a:r>
            <a:r>
              <a:rPr lang="pt-BR" b="1" dirty="0">
                <a:latin typeface="Consolas" panose="020B0609020204030204" pitchFamily="49" charset="0"/>
              </a:rPr>
              <a:t>, PRE_BASE + 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</a:rPr>
              <a:t>Desconto</a:t>
            </a:r>
            <a:r>
              <a:rPr lang="pt-BR" b="1" dirty="0">
                <a:latin typeface="Consolas" panose="020B0609020204030204" pitchFamily="49" charset="0"/>
              </a:rPr>
              <a:t> AS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[Preço Promocional] FROM PRODUTOS;</a:t>
            </a:r>
          </a:p>
          <a:p>
            <a:r>
              <a:rPr lang="pt-BR" dirty="0"/>
              <a:t>Em outras implementações: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DESCRIÇÃO, PRE_BASE * 0.05 AS 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</a:rPr>
              <a:t>Desconto</a:t>
            </a:r>
            <a:r>
              <a:rPr lang="pt-BR" b="1" dirty="0">
                <a:latin typeface="Consolas" panose="020B0609020204030204" pitchFamily="49" charset="0"/>
              </a:rPr>
              <a:t>, PRE_BASE + </a:t>
            </a:r>
            <a:r>
              <a:rPr lang="pt-BR" b="1" dirty="0">
                <a:solidFill>
                  <a:srgbClr val="FF0000"/>
                </a:solidFill>
                <a:latin typeface="Consolas" panose="020B0609020204030204" pitchFamily="49" charset="0"/>
              </a:rPr>
              <a:t>PRE_BASE * 0.05 </a:t>
            </a:r>
            <a:r>
              <a:rPr lang="pt-BR" b="1" dirty="0">
                <a:latin typeface="Consolas" panose="020B0609020204030204" pitchFamily="49" charset="0"/>
              </a:rPr>
              <a:t>AS [Preço Promocional] FROM PRODUTOS;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453076-BB3A-4202-8BBA-A3862EFBB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2389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C801CB-BFE7-429F-8369-8E1A159FD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do SQL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876CF83-FEE9-4EEA-AAB8-B9F75C2C7D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pt-BR" dirty="0"/>
              <a:t>Funções estatísticas (agregação)</a:t>
            </a:r>
          </a:p>
          <a:p>
            <a:pPr lvl="1"/>
            <a:r>
              <a:rPr lang="pt-BR" b="1" dirty="0"/>
              <a:t>SUM = SOMA</a:t>
            </a:r>
          </a:p>
          <a:p>
            <a:pPr lvl="1"/>
            <a:r>
              <a:rPr lang="pt-BR" b="1" dirty="0"/>
              <a:t>AVG = MÉDIA</a:t>
            </a:r>
          </a:p>
          <a:p>
            <a:pPr lvl="1"/>
            <a:r>
              <a:rPr lang="pt-BR" b="1" dirty="0"/>
              <a:t>MAX = MAIOR VALOR</a:t>
            </a:r>
          </a:p>
          <a:p>
            <a:pPr lvl="1"/>
            <a:r>
              <a:rPr lang="pt-BR" b="1" dirty="0"/>
              <a:t>MIN = MENOR VALOR</a:t>
            </a:r>
          </a:p>
          <a:p>
            <a:pPr lvl="1"/>
            <a:r>
              <a:rPr lang="pt-BR" b="1" dirty="0"/>
              <a:t>COUNT = CONTAGEM</a:t>
            </a:r>
          </a:p>
          <a:p>
            <a:endParaRPr lang="pt-BR" dirty="0"/>
          </a:p>
          <a:p>
            <a:r>
              <a:rPr lang="pt-BR" dirty="0"/>
              <a:t>Funções de texto</a:t>
            </a:r>
          </a:p>
          <a:p>
            <a:pPr lvl="1"/>
            <a:r>
              <a:rPr lang="pt-BR" b="1" dirty="0"/>
              <a:t>UCASE</a:t>
            </a:r>
            <a:r>
              <a:rPr lang="pt-BR" dirty="0"/>
              <a:t> (UPPER) = MAIUSCULA</a:t>
            </a:r>
          </a:p>
          <a:p>
            <a:pPr lvl="1"/>
            <a:r>
              <a:rPr lang="pt-BR" b="1" dirty="0"/>
              <a:t>LCASE</a:t>
            </a:r>
            <a:r>
              <a:rPr lang="pt-BR" dirty="0"/>
              <a:t> (LOWER) = MINUSCULA</a:t>
            </a:r>
          </a:p>
          <a:p>
            <a:pPr lvl="1"/>
            <a:r>
              <a:rPr lang="pt-BR" b="1" dirty="0"/>
              <a:t>LEN = </a:t>
            </a:r>
            <a:r>
              <a:rPr lang="pt-BR" dirty="0"/>
              <a:t>QTDE DE CARACTERES</a:t>
            </a:r>
          </a:p>
          <a:p>
            <a:pPr lvl="1"/>
            <a:r>
              <a:rPr lang="pt-BR" b="1" dirty="0"/>
              <a:t>LEFT = </a:t>
            </a:r>
            <a:r>
              <a:rPr lang="pt-BR" sz="2900" dirty="0"/>
              <a:t>ESQUERDA</a:t>
            </a:r>
          </a:p>
          <a:p>
            <a:pPr lvl="1"/>
            <a:r>
              <a:rPr lang="pt-BR" b="1" dirty="0"/>
              <a:t>RIGHT = </a:t>
            </a:r>
            <a:r>
              <a:rPr lang="pt-BR" sz="2900" dirty="0"/>
              <a:t>DIREITA</a:t>
            </a:r>
          </a:p>
          <a:p>
            <a:pPr lvl="1"/>
            <a:r>
              <a:rPr lang="pt-BR" b="1" dirty="0"/>
              <a:t>SUBSTRING = </a:t>
            </a:r>
            <a:r>
              <a:rPr lang="pt-BR" sz="2900" dirty="0"/>
              <a:t>CORTA PARTE DO TEXTO</a:t>
            </a:r>
          </a:p>
          <a:p>
            <a:pPr lvl="1"/>
            <a:r>
              <a:rPr lang="pt-BR" b="1" dirty="0"/>
              <a:t>LTRIM = </a:t>
            </a:r>
            <a:r>
              <a:rPr lang="pt-BR" sz="2900" dirty="0"/>
              <a:t>REMOVER ESPAÇOS À ESQUERDA</a:t>
            </a:r>
          </a:p>
          <a:p>
            <a:pPr lvl="1"/>
            <a:r>
              <a:rPr lang="pt-BR" b="1" dirty="0"/>
              <a:t>RTRIM = </a:t>
            </a:r>
            <a:r>
              <a:rPr lang="pt-BR" sz="2900" dirty="0"/>
              <a:t>REMOVER ESPAÕS À DIREITA</a:t>
            </a:r>
          </a:p>
          <a:p>
            <a:pPr lvl="1"/>
            <a:r>
              <a:rPr lang="pt-BR" b="1" dirty="0"/>
              <a:t>TRIM = </a:t>
            </a:r>
            <a:r>
              <a:rPr lang="pt-BR" sz="2900" dirty="0"/>
              <a:t>REMOVE ESPAÇOS À ESQUERDA E À DIREITA</a:t>
            </a:r>
          </a:p>
          <a:p>
            <a:pPr lvl="1"/>
            <a:r>
              <a:rPr lang="pt-BR" b="1" dirty="0"/>
              <a:t>REPLACE = </a:t>
            </a:r>
            <a:r>
              <a:rPr lang="pt-BR" sz="2900" dirty="0"/>
              <a:t>SUBSTITUIR TEXTO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CE7BC37-8892-4D00-9F72-252B75330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4476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C1DF6-BC05-4401-AC30-E881DDD0E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DISTINCT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B588AE-8B31-42A2-833C-EFA57653CF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DISTINCT</a:t>
            </a:r>
            <a:r>
              <a:rPr lang="pt-BR" dirty="0"/>
              <a:t>: inclui registros únicos (sem repetição)</a:t>
            </a:r>
          </a:p>
          <a:p>
            <a:endParaRPr lang="pt-BR" dirty="0"/>
          </a:p>
          <a:p>
            <a:r>
              <a:rPr lang="pt-BR" dirty="0"/>
              <a:t>Sintaxe:</a:t>
            </a:r>
          </a:p>
          <a:p>
            <a:endParaRPr lang="pt-BR" dirty="0"/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DISTINCT </a:t>
            </a:r>
            <a:r>
              <a:rPr lang="pt-BR" i="1" dirty="0">
                <a:latin typeface="Consolas" panose="020B0609020204030204" pitchFamily="49" charset="0"/>
              </a:rPr>
              <a:t>colunas</a:t>
            </a:r>
            <a:r>
              <a:rPr lang="pt-BR" b="1" dirty="0">
                <a:latin typeface="Consolas" panose="020B0609020204030204" pitchFamily="49" charset="0"/>
              </a:rPr>
              <a:t> FROM </a:t>
            </a:r>
            <a:r>
              <a:rPr lang="pt-BR" i="1" dirty="0">
                <a:latin typeface="Consolas" panose="020B0609020204030204" pitchFamily="49" charset="0"/>
              </a:rPr>
              <a:t>tabela</a:t>
            </a:r>
            <a:r>
              <a:rPr lang="pt-BR" b="1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69E6087-451B-4E53-BB69-5757AC037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2278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0C5D5E-F101-40BA-9D9C-3CB9EF21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TOP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56D885F-6314-4669-8348-F53DF713A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Permite a seleção dos primeiros registros</a:t>
            </a:r>
          </a:p>
          <a:p>
            <a:r>
              <a:rPr lang="pt-BR" dirty="0"/>
              <a:t>Parâmetro numérico pode especificar quantidade ou porcentagem</a:t>
            </a:r>
          </a:p>
          <a:p>
            <a:r>
              <a:rPr lang="pt-BR" dirty="0"/>
              <a:t>Ideal para uso em classificações e filtragens</a:t>
            </a:r>
          </a:p>
          <a:p>
            <a:r>
              <a:rPr lang="pt-BR" dirty="0"/>
              <a:t>Sintaxe: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TOP </a:t>
            </a:r>
            <a:r>
              <a:rPr lang="pt-BR" i="1" dirty="0">
                <a:latin typeface="Consolas" panose="020B0609020204030204" pitchFamily="49" charset="0"/>
              </a:rPr>
              <a:t>quantidade</a:t>
            </a:r>
            <a:r>
              <a:rPr lang="pt-BR" b="1" dirty="0">
                <a:latin typeface="Consolas" panose="020B0609020204030204" pitchFamily="49" charset="0"/>
              </a:rPr>
              <a:t> </a:t>
            </a:r>
            <a:r>
              <a:rPr lang="pt-BR" i="1" dirty="0">
                <a:latin typeface="Consolas" panose="020B0609020204030204" pitchFamily="49" charset="0"/>
              </a:rPr>
              <a:t>colunas</a:t>
            </a:r>
            <a:r>
              <a:rPr lang="pt-BR" b="1" dirty="0">
                <a:latin typeface="Consolas" panose="020B0609020204030204" pitchFamily="49" charset="0"/>
              </a:rPr>
              <a:t> FROM </a:t>
            </a:r>
            <a:r>
              <a:rPr lang="pt-BR" i="1" dirty="0">
                <a:latin typeface="Consolas" panose="020B0609020204030204" pitchFamily="49" charset="0"/>
              </a:rPr>
              <a:t>tabela</a:t>
            </a:r>
            <a:r>
              <a:rPr lang="pt-BR" b="1" dirty="0"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TOP </a:t>
            </a:r>
            <a:r>
              <a:rPr lang="pt-BR" i="1" dirty="0">
                <a:latin typeface="Consolas" panose="020B0609020204030204" pitchFamily="49" charset="0"/>
              </a:rPr>
              <a:t>porcentagem</a:t>
            </a:r>
            <a:r>
              <a:rPr lang="pt-BR" b="1" dirty="0">
                <a:latin typeface="Consolas" panose="020B0609020204030204" pitchFamily="49" charset="0"/>
              </a:rPr>
              <a:t> PERCENT </a:t>
            </a:r>
            <a:r>
              <a:rPr lang="pt-BR" i="1" dirty="0">
                <a:latin typeface="Consolas" panose="020B0609020204030204" pitchFamily="49" charset="0"/>
              </a:rPr>
              <a:t>colunas</a:t>
            </a:r>
            <a:r>
              <a:rPr lang="pt-BR" b="1" dirty="0">
                <a:latin typeface="Consolas" panose="020B0609020204030204" pitchFamily="49" charset="0"/>
              </a:rPr>
              <a:t> FROM </a:t>
            </a:r>
            <a:r>
              <a:rPr lang="pt-BR" i="1" dirty="0">
                <a:latin typeface="Consolas" panose="020B0609020204030204" pitchFamily="49" charset="0"/>
              </a:rPr>
              <a:t>tabela</a:t>
            </a:r>
            <a:r>
              <a:rPr lang="pt-BR" b="1" dirty="0">
                <a:latin typeface="Consolas" panose="020B0609020204030204" pitchFamily="49" charset="0"/>
              </a:rPr>
              <a:t>;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9F75D9-7B3A-4490-AC5D-660FC51AC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1690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A8AA18-5CD1-4FBD-A912-139227711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WHERE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3CD0621-5C78-4E0B-8DE3-A8D487B1E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Permite a </a:t>
            </a:r>
            <a:r>
              <a:rPr lang="pt-BR" u="sng" dirty="0"/>
              <a:t>filtragem</a:t>
            </a:r>
            <a:r>
              <a:rPr lang="pt-BR" dirty="0"/>
              <a:t> dos registros selecionados, baseada em condições (testes lógicos)</a:t>
            </a:r>
          </a:p>
          <a:p>
            <a:endParaRPr lang="pt-BR" dirty="0"/>
          </a:p>
          <a:p>
            <a:r>
              <a:rPr lang="pt-BR" dirty="0"/>
              <a:t>Sintaxe: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</a:t>
            </a:r>
            <a:r>
              <a:rPr lang="pt-BR" i="1" dirty="0">
                <a:latin typeface="Consolas" panose="020B0609020204030204" pitchFamily="49" charset="0"/>
              </a:rPr>
              <a:t>colunas</a:t>
            </a:r>
            <a:r>
              <a:rPr lang="pt-BR" b="1" dirty="0">
                <a:latin typeface="Consolas" panose="020B0609020204030204" pitchFamily="49" charset="0"/>
              </a:rPr>
              <a:t> FROM </a:t>
            </a:r>
            <a:r>
              <a:rPr lang="pt-BR" i="1" dirty="0">
                <a:latin typeface="Consolas" panose="020B0609020204030204" pitchFamily="49" charset="0"/>
              </a:rPr>
              <a:t>tabela</a:t>
            </a:r>
            <a:r>
              <a:rPr lang="pt-BR" b="1" dirty="0">
                <a:latin typeface="Consolas" panose="020B0609020204030204" pitchFamily="49" charset="0"/>
              </a:rPr>
              <a:t> WHERE </a:t>
            </a:r>
            <a:r>
              <a:rPr lang="pt-BR" i="1" dirty="0">
                <a:latin typeface="Consolas" panose="020B0609020204030204" pitchFamily="49" charset="0"/>
              </a:rPr>
              <a:t>condição</a:t>
            </a:r>
            <a:r>
              <a:rPr lang="pt-BR" b="1" dirty="0"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pt-BR" dirty="0"/>
              <a:t>Operadores de comparação </a:t>
            </a:r>
            <a:r>
              <a:rPr lang="pt-BR" b="1" dirty="0"/>
              <a:t>=</a:t>
            </a:r>
            <a:r>
              <a:rPr lang="pt-BR" dirty="0"/>
              <a:t>, </a:t>
            </a:r>
            <a:r>
              <a:rPr lang="pt-BR" b="1" dirty="0"/>
              <a:t>&gt;</a:t>
            </a:r>
            <a:r>
              <a:rPr lang="pt-BR" dirty="0"/>
              <a:t>, </a:t>
            </a:r>
            <a:r>
              <a:rPr lang="pt-BR" b="1" dirty="0"/>
              <a:t>&lt;</a:t>
            </a:r>
            <a:r>
              <a:rPr lang="pt-BR" dirty="0"/>
              <a:t>, </a:t>
            </a:r>
            <a:r>
              <a:rPr lang="pt-BR" b="1" dirty="0"/>
              <a:t>&gt;=</a:t>
            </a:r>
            <a:r>
              <a:rPr lang="pt-BR" dirty="0"/>
              <a:t>, </a:t>
            </a:r>
            <a:r>
              <a:rPr lang="pt-BR" b="1" dirty="0"/>
              <a:t>&lt;=</a:t>
            </a:r>
            <a:r>
              <a:rPr lang="pt-BR" dirty="0"/>
              <a:t>, </a:t>
            </a:r>
            <a:r>
              <a:rPr lang="pt-BR" b="1" dirty="0"/>
              <a:t>&lt;&gt;</a:t>
            </a:r>
          </a:p>
          <a:p>
            <a:pPr lvl="1"/>
            <a:r>
              <a:rPr lang="pt-BR" dirty="0"/>
              <a:t>Operadores lógicos: </a:t>
            </a:r>
            <a:r>
              <a:rPr lang="pt-BR" b="1" dirty="0"/>
              <a:t>AND</a:t>
            </a:r>
            <a:r>
              <a:rPr lang="pt-BR" dirty="0"/>
              <a:t>, </a:t>
            </a:r>
            <a:r>
              <a:rPr lang="pt-BR" b="1" dirty="0"/>
              <a:t>OR</a:t>
            </a:r>
            <a:r>
              <a:rPr lang="pt-BR" dirty="0"/>
              <a:t>, </a:t>
            </a:r>
            <a:r>
              <a:rPr lang="pt-BR" b="1" dirty="0"/>
              <a:t>NOT</a:t>
            </a:r>
          </a:p>
          <a:p>
            <a:pPr lvl="1"/>
            <a:r>
              <a:rPr lang="pt-BR" dirty="0"/>
              <a:t>Operadores </a:t>
            </a:r>
            <a:r>
              <a:rPr lang="pt-BR" b="1" dirty="0"/>
              <a:t>BETWEEN</a:t>
            </a:r>
            <a:r>
              <a:rPr lang="pt-BR" dirty="0"/>
              <a:t>, </a:t>
            </a:r>
            <a:r>
              <a:rPr lang="pt-BR" b="1" dirty="0"/>
              <a:t>LIKE</a:t>
            </a:r>
            <a:r>
              <a:rPr lang="pt-BR" dirty="0"/>
              <a:t>, </a:t>
            </a:r>
            <a:r>
              <a:rPr lang="pt-BR" b="1" dirty="0"/>
              <a:t>IN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62DEA3-037A-4CED-A812-EEE7950A6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7366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0FF37C-0AA3-4180-8351-8DF139447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LIKE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0FDD00F-20DD-49C5-AB8A-4E88F87BF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Permite o uso de caracteres curinga</a:t>
            </a:r>
          </a:p>
          <a:p>
            <a:pPr lvl="1"/>
            <a:r>
              <a:rPr lang="pt-BR" dirty="0"/>
              <a:t>“</a:t>
            </a:r>
            <a:r>
              <a:rPr lang="pt-BR" b="1" dirty="0">
                <a:latin typeface="Consolas" panose="020B0609020204030204" pitchFamily="49" charset="0"/>
              </a:rPr>
              <a:t>%</a:t>
            </a:r>
            <a:r>
              <a:rPr lang="pt-BR" dirty="0"/>
              <a:t>” pesquisa de caracteres </a:t>
            </a:r>
          </a:p>
          <a:p>
            <a:pPr lvl="1"/>
            <a:r>
              <a:rPr lang="pt-BR" dirty="0"/>
              <a:t>“</a:t>
            </a:r>
            <a:r>
              <a:rPr lang="pt-BR" b="1" dirty="0">
                <a:latin typeface="Consolas" panose="020B0609020204030204" pitchFamily="49" charset="0"/>
              </a:rPr>
              <a:t>_</a:t>
            </a:r>
            <a:r>
              <a:rPr lang="pt-BR" dirty="0"/>
              <a:t>” substitui apenas um caractere</a:t>
            </a:r>
          </a:p>
          <a:p>
            <a:r>
              <a:rPr lang="pt-BR" dirty="0"/>
              <a:t>Permite correspondência com listas de caracteres</a:t>
            </a:r>
          </a:p>
          <a:p>
            <a:pPr lvl="1"/>
            <a:r>
              <a:rPr lang="pt-BR" dirty="0"/>
              <a:t>A lista deve estar entre colchetes</a:t>
            </a:r>
          </a:p>
          <a:p>
            <a:pPr lvl="1"/>
            <a:r>
              <a:rPr lang="pt-BR" dirty="0"/>
              <a:t>Para representar exclusão, use “</a:t>
            </a:r>
            <a:r>
              <a:rPr lang="pt-BR" b="1" dirty="0">
                <a:latin typeface="Consolas" panose="020B0609020204030204" pitchFamily="49" charset="0"/>
              </a:rPr>
              <a:t>!</a:t>
            </a:r>
            <a:r>
              <a:rPr lang="pt-BR" dirty="0"/>
              <a:t>”</a:t>
            </a:r>
          </a:p>
          <a:p>
            <a:pPr lvl="1"/>
            <a:r>
              <a:rPr lang="pt-BR" dirty="0"/>
              <a:t>Para representar intervalo use “</a:t>
            </a:r>
            <a:r>
              <a:rPr lang="pt-BR" b="1" dirty="0">
                <a:latin typeface="Consolas" panose="020B0609020204030204" pitchFamily="49" charset="0"/>
              </a:rPr>
              <a:t>-</a:t>
            </a:r>
            <a:r>
              <a:rPr lang="pt-BR" dirty="0"/>
              <a:t>”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0FCAB6-8F3D-4C45-BA01-5AC9665F1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952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22D974-D7B4-4BC7-B307-BD5CFA5AF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 LIKE</a:t>
            </a:r>
          </a:p>
        </p:txBody>
      </p:sp>
      <p:graphicFrame>
        <p:nvGraphicFramePr>
          <p:cNvPr id="6" name="Tabela 6">
            <a:extLst>
              <a:ext uri="{FF2B5EF4-FFF2-40B4-BE49-F238E27FC236}">
                <a16:creationId xmlns:a16="http://schemas.microsoft.com/office/drawing/2014/main" id="{9511314F-7CA4-4834-9C98-81E63E820A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7408907"/>
              </p:ext>
            </p:extLst>
          </p:nvPr>
        </p:nvGraphicFramePr>
        <p:xfrm>
          <a:off x="838200" y="1438275"/>
          <a:ext cx="10515600" cy="41148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4987834">
                  <a:extLst>
                    <a:ext uri="{9D8B030D-6E8A-4147-A177-3AD203B41FA5}">
                      <a16:colId xmlns:a16="http://schemas.microsoft.com/office/drawing/2014/main" val="3964826868"/>
                    </a:ext>
                  </a:extLst>
                </a:gridCol>
                <a:gridCol w="5527766">
                  <a:extLst>
                    <a:ext uri="{9D8B030D-6E8A-4147-A177-3AD203B41FA5}">
                      <a16:colId xmlns:a16="http://schemas.microsoft.com/office/drawing/2014/main" val="30199816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Exemplos com operador LIKE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Encontra cidades 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6904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Consolas" panose="020B0609020204030204" pitchFamily="49" charset="0"/>
                        </a:rPr>
                        <a:t>WHERE CIDADE LIKE 'São%'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comecem com “São”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526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Consolas" panose="020B0609020204030204" pitchFamily="49" charset="0"/>
                        </a:rPr>
                        <a:t>WHERE CIDADE LIKE '%Paulo'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terminem com “Paulo”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3738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Consolas" panose="020B0609020204030204" pitchFamily="49" charset="0"/>
                        </a:rPr>
                        <a:t>WHERE CIDADE LIKE '%João%'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contenham “João”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402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Consolas" panose="020B0609020204030204" pitchFamily="49" charset="0"/>
                        </a:rPr>
                        <a:t>WHERE CIDADE LIKE '_a%'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contenham “a” como 2ª letra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2783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Consolas" panose="020B0609020204030204" pitchFamily="49" charset="0"/>
                        </a:rPr>
                        <a:t>WHERE CIDADE LIKE '</a:t>
                      </a:r>
                      <a:r>
                        <a:rPr lang="pt-BR" sz="2400" b="1" dirty="0" err="1">
                          <a:latin typeface="Consolas" panose="020B0609020204030204" pitchFamily="49" charset="0"/>
                        </a:rPr>
                        <a:t>R%o</a:t>
                      </a:r>
                      <a:r>
                        <a:rPr lang="pt-BR" sz="2400" b="1" dirty="0">
                          <a:latin typeface="Consolas" panose="020B0609020204030204" pitchFamily="49" charset="0"/>
                        </a:rPr>
                        <a:t>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comecem com “R” e terminem com “o”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32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</a:rPr>
                        <a:t>WHERE CIDADE LIKE '[</a:t>
                      </a:r>
                      <a:r>
                        <a:rPr lang="en-US" sz="2400" b="1" dirty="0" err="1">
                          <a:effectLst/>
                          <a:latin typeface="Consolas" panose="020B0609020204030204" pitchFamily="49" charset="0"/>
                        </a:rPr>
                        <a:t>abcd</a:t>
                      </a:r>
                      <a:r>
                        <a:rPr lang="en-US" sz="2400" b="1" dirty="0">
                          <a:effectLst/>
                          <a:latin typeface="Consolas" panose="020B0609020204030204" pitchFamily="49" charset="0"/>
                        </a:rPr>
                        <a:t>]%'</a:t>
                      </a:r>
                      <a:endParaRPr lang="pt-BR" sz="2400" b="1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comecem com “a”, “b”, “c” ou “d”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6344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Consolas" panose="020B0609020204030204" pitchFamily="49" charset="0"/>
                        </a:rPr>
                        <a:t>WHERE CIDADE LIKE '[!</a:t>
                      </a:r>
                      <a:r>
                        <a:rPr lang="pt-BR" sz="2400" b="1" dirty="0" err="1">
                          <a:latin typeface="Consolas" panose="020B0609020204030204" pitchFamily="49" charset="0"/>
                        </a:rPr>
                        <a:t>abcd</a:t>
                      </a:r>
                      <a:r>
                        <a:rPr lang="pt-BR" sz="2400" b="1" dirty="0">
                          <a:latin typeface="Consolas" panose="020B0609020204030204" pitchFamily="49" charset="0"/>
                        </a:rPr>
                        <a:t>]%'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não comecem com “a”, “b”, “c” ou “d”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2327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>
                          <a:latin typeface="Consolas" panose="020B0609020204030204" pitchFamily="49" charset="0"/>
                        </a:rPr>
                        <a:t>WHERE CIDADE LIKE '[</a:t>
                      </a:r>
                      <a:r>
                        <a:rPr lang="pt-BR" sz="2400" b="1" dirty="0" err="1">
                          <a:latin typeface="Consolas" panose="020B0609020204030204" pitchFamily="49" charset="0"/>
                        </a:rPr>
                        <a:t>a-e</a:t>
                      </a:r>
                      <a:r>
                        <a:rPr lang="pt-BR" sz="2400" b="1" dirty="0">
                          <a:latin typeface="Consolas" panose="020B0609020204030204" pitchFamily="49" charset="0"/>
                        </a:rPr>
                        <a:t>]%'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comecem com “a”, “b”, “c”, “d” ou “e”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041714"/>
                  </a:ext>
                </a:extLst>
              </a:tr>
            </a:tbl>
          </a:graphicData>
        </a:graphic>
      </p:graphicFrame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E1756CA-FAED-425D-8394-65A0CDABB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5152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676A50-6730-45D4-8FCE-BB294CAF7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Subconsulta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E3FC43D-70C9-4EE4-BCB8-B9E0247D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Gera uma lista de valores que pode ser usada dentro de outra consulta</a:t>
            </a:r>
          </a:p>
          <a:p>
            <a:r>
              <a:rPr lang="pt-BR" dirty="0"/>
              <a:t>Permite até 32 níveis</a:t>
            </a:r>
          </a:p>
          <a:p>
            <a:endParaRPr lang="pt-BR" dirty="0"/>
          </a:p>
          <a:p>
            <a:r>
              <a:rPr lang="pt-BR" dirty="0"/>
              <a:t>Sintaxe: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</a:t>
            </a:r>
            <a:r>
              <a:rPr lang="pt-BR" i="1" dirty="0">
                <a:latin typeface="Consolas" panose="020B0609020204030204" pitchFamily="49" charset="0"/>
              </a:rPr>
              <a:t>colunas</a:t>
            </a:r>
            <a:r>
              <a:rPr lang="pt-BR" b="1" dirty="0">
                <a:latin typeface="Consolas" panose="020B0609020204030204" pitchFamily="49" charset="0"/>
              </a:rPr>
              <a:t> FROM </a:t>
            </a:r>
            <a:r>
              <a:rPr lang="pt-BR" i="1" dirty="0">
                <a:latin typeface="Consolas" panose="020B0609020204030204" pitchFamily="49" charset="0"/>
              </a:rPr>
              <a:t>tabela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WHERE </a:t>
            </a:r>
            <a:r>
              <a:rPr lang="pt-BR" i="1" dirty="0">
                <a:latin typeface="Consolas" panose="020B0609020204030204" pitchFamily="49" charset="0"/>
              </a:rPr>
              <a:t>coluna</a:t>
            </a:r>
            <a:r>
              <a:rPr lang="pt-BR" b="1" dirty="0">
                <a:latin typeface="Consolas" panose="020B0609020204030204" pitchFamily="49" charset="0"/>
              </a:rPr>
              <a:t> IN (</a:t>
            </a:r>
            <a:r>
              <a:rPr lang="pt-BR" i="1" dirty="0" err="1">
                <a:latin typeface="Consolas" panose="020B0609020204030204" pitchFamily="49" charset="0"/>
              </a:rPr>
              <a:t>subconsulta</a:t>
            </a:r>
            <a:r>
              <a:rPr lang="pt-BR" b="1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92A5E57-D035-47A9-80BF-9ADEA3417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7472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6F2028-A0E3-4DD6-944D-EF53799C2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Agregação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12CABE-D037-43D3-9226-0884B5447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Totalização, consolidação</a:t>
            </a:r>
          </a:p>
          <a:p>
            <a:endParaRPr lang="pt-BR" dirty="0"/>
          </a:p>
          <a:p>
            <a:r>
              <a:rPr lang="pt-BR" dirty="0"/>
              <a:t>Funções: </a:t>
            </a:r>
            <a:r>
              <a:rPr lang="en-US" b="1" dirty="0"/>
              <a:t>SUM</a:t>
            </a:r>
            <a:r>
              <a:rPr lang="en-US" dirty="0"/>
              <a:t>, </a:t>
            </a:r>
            <a:r>
              <a:rPr lang="en-US" b="1" dirty="0"/>
              <a:t>AVG</a:t>
            </a:r>
            <a:r>
              <a:rPr lang="en-US" dirty="0"/>
              <a:t>, </a:t>
            </a:r>
            <a:r>
              <a:rPr lang="en-US" b="1" dirty="0"/>
              <a:t>MAX</a:t>
            </a:r>
            <a:r>
              <a:rPr lang="en-US" dirty="0"/>
              <a:t>, </a:t>
            </a:r>
            <a:r>
              <a:rPr lang="en-US" b="1" dirty="0"/>
              <a:t>MIN</a:t>
            </a:r>
            <a:r>
              <a:rPr lang="en-US" dirty="0"/>
              <a:t>, </a:t>
            </a:r>
            <a:r>
              <a:rPr lang="en-US" b="1" dirty="0"/>
              <a:t>COUNT</a:t>
            </a:r>
          </a:p>
          <a:p>
            <a:endParaRPr lang="en-US" b="1" dirty="0"/>
          </a:p>
          <a:p>
            <a:r>
              <a:rPr lang="pt-BR" dirty="0"/>
              <a:t>Não consideram campos vazios</a:t>
            </a:r>
          </a:p>
          <a:p>
            <a:endParaRPr lang="pt-BR" dirty="0"/>
          </a:p>
          <a:p>
            <a:r>
              <a:rPr lang="pt-BR" dirty="0"/>
              <a:t>O asterisco (</a:t>
            </a:r>
            <a:r>
              <a:rPr lang="pt-BR" b="1" dirty="0">
                <a:latin typeface="Consolas" panose="020B0609020204030204" pitchFamily="49" charset="0"/>
              </a:rPr>
              <a:t>*</a:t>
            </a:r>
            <a:r>
              <a:rPr lang="pt-BR" dirty="0"/>
              <a:t>) é usado para contagem de registros completos</a:t>
            </a:r>
          </a:p>
          <a:p>
            <a:endParaRPr lang="pt-BR" dirty="0"/>
          </a:p>
          <a:p>
            <a:r>
              <a:rPr lang="en-US" dirty="0" err="1"/>
              <a:t>Sintaxe</a:t>
            </a:r>
            <a:r>
              <a:rPr lang="en-US" dirty="0"/>
              <a:t>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FUNÇÃO(</a:t>
            </a:r>
            <a:r>
              <a:rPr lang="pt-BR" i="1" dirty="0">
                <a:latin typeface="Consolas" panose="020B0609020204030204" pitchFamily="49" charset="0"/>
              </a:rPr>
              <a:t>coluna</a:t>
            </a:r>
            <a:r>
              <a:rPr lang="pt-BR" b="1" dirty="0">
                <a:latin typeface="Consolas" panose="020B0609020204030204" pitchFamily="49" charset="0"/>
              </a:rPr>
              <a:t>) FROM </a:t>
            </a:r>
            <a:r>
              <a:rPr lang="pt-BR" i="1" dirty="0">
                <a:latin typeface="Consolas" panose="020B0609020204030204" pitchFamily="49" charset="0"/>
              </a:rPr>
              <a:t>tabela</a:t>
            </a:r>
            <a:r>
              <a:rPr lang="pt-BR" b="1" dirty="0">
                <a:latin typeface="Consolas" panose="020B0609020204030204" pitchFamily="49" charset="0"/>
              </a:rPr>
              <a:t>;</a:t>
            </a:r>
          </a:p>
          <a:p>
            <a:pPr lvl="1"/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A015A89-FB3D-4609-ACCC-4FCED0CA6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316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1A04D7-109F-443C-92C6-4958A23C7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GROUP BY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3CCA20-01BB-4570-9F04-A2D8D5DAED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Usada com as funções de agregação</a:t>
            </a:r>
          </a:p>
          <a:p>
            <a:r>
              <a:rPr lang="pt-BR" dirty="0"/>
              <a:t>Agrupar o conjunto-resultado por uma ou mais colunas</a:t>
            </a:r>
          </a:p>
          <a:p>
            <a:endParaRPr lang="pt-BR" dirty="0"/>
          </a:p>
          <a:p>
            <a:r>
              <a:rPr lang="pt-BR" dirty="0"/>
              <a:t>Sintaxe: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</a:t>
            </a:r>
            <a:r>
              <a:rPr lang="pt-BR" i="1" dirty="0">
                <a:latin typeface="Consolas" panose="020B0609020204030204" pitchFamily="49" charset="0"/>
              </a:rPr>
              <a:t>colunas</a:t>
            </a:r>
            <a:r>
              <a:rPr lang="pt-BR" b="1" dirty="0">
                <a:latin typeface="Consolas" panose="020B0609020204030204" pitchFamily="49" charset="0"/>
              </a:rPr>
              <a:t> FROM </a:t>
            </a:r>
            <a:r>
              <a:rPr lang="pt-BR" i="1" dirty="0">
                <a:latin typeface="Consolas" panose="020B0609020204030204" pitchFamily="49" charset="0"/>
              </a:rPr>
              <a:t>tabela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GROUP BY </a:t>
            </a:r>
            <a:r>
              <a:rPr lang="pt-BR" i="1" dirty="0">
                <a:latin typeface="Consolas" panose="020B0609020204030204" pitchFamily="49" charset="0"/>
              </a:rPr>
              <a:t>coluna1</a:t>
            </a:r>
            <a:r>
              <a:rPr lang="pt-BR" b="1" dirty="0">
                <a:latin typeface="Consolas" panose="020B0609020204030204" pitchFamily="49" charset="0"/>
              </a:rPr>
              <a:t>, </a:t>
            </a:r>
            <a:r>
              <a:rPr lang="pt-BR" i="1" dirty="0">
                <a:latin typeface="Consolas" panose="020B0609020204030204" pitchFamily="49" charset="0"/>
              </a:rPr>
              <a:t>coluna2</a:t>
            </a:r>
            <a:r>
              <a:rPr lang="pt-BR" b="1" dirty="0">
                <a:latin typeface="Consolas" panose="020B0609020204030204" pitchFamily="49" charset="0"/>
              </a:rPr>
              <a:t>...;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7E05640-956C-4BE8-A54E-991E306B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2589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496A61-4B78-413E-99E5-5AA4B0507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ORDER BY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1F1761-E914-4AC1-8056-8C9B50E2A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Especifica a ordem de classificação do conjunto-resultado em função das colunas escolhidas</a:t>
            </a:r>
          </a:p>
          <a:p>
            <a:r>
              <a:rPr lang="pt-BR" dirty="0"/>
              <a:t>A palavra-chave </a:t>
            </a:r>
            <a:r>
              <a:rPr lang="pt-BR" b="1" dirty="0"/>
              <a:t>ASC</a:t>
            </a:r>
            <a:r>
              <a:rPr lang="pt-BR" dirty="0"/>
              <a:t> (padrão por omissão) determina a classificação ascendente e </a:t>
            </a:r>
            <a:r>
              <a:rPr lang="pt-BR" b="1" dirty="0"/>
              <a:t>DESC</a:t>
            </a:r>
            <a:r>
              <a:rPr lang="pt-BR" dirty="0"/>
              <a:t> determina a classificação descendente</a:t>
            </a:r>
          </a:p>
          <a:p>
            <a:r>
              <a:rPr lang="pt-BR" dirty="0"/>
              <a:t>A especificação das colunas pode ser feita pelo nome, pela posição (um número inteiro, partindo de 1) ou por uma expressão (cálculo)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372DE-014D-42FF-95E9-06EE3F6A7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2508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D3664-D266-4790-80B8-283E7C76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ORDER BY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0D8B89B-51EC-488F-9214-1AB4879B9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Sintaxe: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</a:t>
            </a:r>
            <a:r>
              <a:rPr lang="pt-BR" i="1" dirty="0">
                <a:latin typeface="Consolas" panose="020B0609020204030204" pitchFamily="49" charset="0"/>
              </a:rPr>
              <a:t>colunas</a:t>
            </a:r>
            <a:r>
              <a:rPr lang="pt-BR" b="1" dirty="0">
                <a:latin typeface="Consolas" panose="020B0609020204030204" pitchFamily="49" charset="0"/>
              </a:rPr>
              <a:t> FROM </a:t>
            </a:r>
            <a:r>
              <a:rPr lang="pt-BR" i="1" dirty="0">
                <a:latin typeface="Consolas" panose="020B0609020204030204" pitchFamily="49" charset="0"/>
              </a:rPr>
              <a:t>tabela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ORDER BY </a:t>
            </a:r>
            <a:r>
              <a:rPr lang="pt-BR" i="1" dirty="0">
                <a:latin typeface="Consolas" panose="020B0609020204030204" pitchFamily="49" charset="0"/>
              </a:rPr>
              <a:t>coluna1</a:t>
            </a:r>
            <a:r>
              <a:rPr lang="pt-BR" b="1" dirty="0">
                <a:latin typeface="Consolas" panose="020B0609020204030204" pitchFamily="49" charset="0"/>
              </a:rPr>
              <a:t> ASC</a:t>
            </a:r>
            <a:r>
              <a:rPr lang="pt-BR" dirty="0"/>
              <a:t>|</a:t>
            </a:r>
            <a:r>
              <a:rPr lang="pt-BR" b="1" dirty="0">
                <a:latin typeface="Consolas" panose="020B0609020204030204" pitchFamily="49" charset="0"/>
              </a:rPr>
              <a:t>DESC, </a:t>
            </a:r>
            <a:r>
              <a:rPr lang="pt-BR" i="1" dirty="0">
                <a:latin typeface="Consolas" panose="020B0609020204030204" pitchFamily="49" charset="0"/>
              </a:rPr>
              <a:t>coluna2</a:t>
            </a:r>
            <a:r>
              <a:rPr lang="pt-BR" b="1" dirty="0">
                <a:latin typeface="Consolas" panose="020B0609020204030204" pitchFamily="49" charset="0"/>
              </a:rPr>
              <a:t> ASC</a:t>
            </a:r>
            <a:r>
              <a:rPr lang="pt-BR" dirty="0"/>
              <a:t>|</a:t>
            </a:r>
            <a:r>
              <a:rPr lang="pt-BR" b="1" dirty="0">
                <a:latin typeface="Consolas" panose="020B0609020204030204" pitchFamily="49" charset="0"/>
              </a:rPr>
              <a:t>DESC</a:t>
            </a:r>
            <a:r>
              <a:rPr lang="pt-BR" dirty="0"/>
              <a:t>...</a:t>
            </a:r>
            <a:r>
              <a:rPr lang="pt-BR" b="1" dirty="0">
                <a:latin typeface="Consolas" panose="020B0609020204030204" pitchFamily="49" charset="0"/>
              </a:rPr>
              <a:t>;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F6A1BE-D609-4667-B5AF-F963D7BA0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8472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60B66C-AD84-452A-A29D-20A691550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JOIN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854CA69-3DC7-4941-8830-70A7BFA6A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Normalização</a:t>
            </a:r>
            <a:r>
              <a:rPr lang="pt-BR" dirty="0"/>
              <a:t>: separação de dados em tabelas distintas</a:t>
            </a:r>
          </a:p>
          <a:p>
            <a:r>
              <a:rPr lang="pt-BR" b="1" dirty="0"/>
              <a:t>Junção</a:t>
            </a:r>
            <a:r>
              <a:rPr lang="pt-BR" dirty="0"/>
              <a:t>: união de dados realizada no momento da criação de uma consulta que necessita de campos de mais de uma tabela</a:t>
            </a:r>
          </a:p>
          <a:p>
            <a:r>
              <a:rPr lang="pt-BR" dirty="0"/>
              <a:t>As tabelas precisam estar conectadas por campos-chave, definidos na estrutura da base de dados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106861-68FF-495B-BF44-709CFE745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414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8FC93B-BC85-47B2-A3DC-0D9C65C35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JOIN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1469F3-D941-4CE9-93F7-4B03942F47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Há vários tipos de junção, dependendo da finalidade da consulta</a:t>
            </a:r>
          </a:p>
          <a:p>
            <a:r>
              <a:rPr lang="pt-BR" dirty="0"/>
              <a:t>Sintaxe: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</a:t>
            </a:r>
            <a:r>
              <a:rPr lang="pt-BR" i="1" dirty="0">
                <a:latin typeface="Consolas" panose="020B0609020204030204" pitchFamily="49" charset="0"/>
              </a:rPr>
              <a:t>colunas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FROM </a:t>
            </a:r>
            <a:r>
              <a:rPr lang="pt-BR" i="1" dirty="0" err="1">
                <a:latin typeface="Consolas" panose="020B0609020204030204" pitchFamily="49" charset="0"/>
              </a:rPr>
              <a:t>tabela_A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i="1" dirty="0" err="1">
                <a:latin typeface="Consolas" panose="020B0609020204030204" pitchFamily="49" charset="0"/>
              </a:rPr>
              <a:t>tipo_junção</a:t>
            </a:r>
            <a:r>
              <a:rPr lang="pt-BR" b="1" dirty="0">
                <a:latin typeface="Consolas" panose="020B0609020204030204" pitchFamily="49" charset="0"/>
              </a:rPr>
              <a:t> JOIN </a:t>
            </a:r>
            <a:r>
              <a:rPr lang="pt-BR" i="1" dirty="0" err="1">
                <a:latin typeface="Consolas" panose="020B0609020204030204" pitchFamily="49" charset="0"/>
              </a:rPr>
              <a:t>tabela_B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ON </a:t>
            </a:r>
            <a:r>
              <a:rPr lang="pt-BR" i="1" dirty="0" err="1">
                <a:latin typeface="Consolas" panose="020B0609020204030204" pitchFamily="49" charset="0"/>
              </a:rPr>
              <a:t>tabela_A.chave</a:t>
            </a:r>
            <a:r>
              <a:rPr lang="pt-BR" i="1" dirty="0">
                <a:latin typeface="Consolas" panose="020B0609020204030204" pitchFamily="49" charset="0"/>
              </a:rPr>
              <a:t> </a:t>
            </a:r>
            <a:r>
              <a:rPr lang="pt-BR" b="1" dirty="0">
                <a:latin typeface="Consolas" panose="020B0609020204030204" pitchFamily="49" charset="0"/>
              </a:rPr>
              <a:t>= </a:t>
            </a:r>
            <a:r>
              <a:rPr lang="pt-BR" i="1" dirty="0" err="1">
                <a:latin typeface="Consolas" panose="020B0609020204030204" pitchFamily="49" charset="0"/>
              </a:rPr>
              <a:t>tabela_B.chave</a:t>
            </a:r>
            <a:endParaRPr lang="pt-BR" i="1" dirty="0">
              <a:latin typeface="Consolas" panose="020B06090202040302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1B1B064-9D0F-42B3-8754-A87B5BF4B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8956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3448F4-0CBD-0A07-EDF4-4F0189323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INNER JOIN ( relação entre as tabelas)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46B8B93-3B79-8FF0-373E-2B971EDAF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23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5B1B45E-B0F5-367A-3641-A8570171F95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211551" y="1784195"/>
            <a:ext cx="4060579" cy="3035826"/>
          </a:xfrm>
          <a:prstGeom prst="rect">
            <a:avLst/>
          </a:prstGeom>
        </p:spPr>
      </p:pic>
      <p:pic>
        <p:nvPicPr>
          <p:cNvPr id="7" name="Gráfico 6" descr="Mulher com preenchimento sólido">
            <a:extLst>
              <a:ext uri="{FF2B5EF4-FFF2-40B4-BE49-F238E27FC236}">
                <a16:creationId xmlns:a16="http://schemas.microsoft.com/office/drawing/2014/main" id="{8D52B699-EB25-28BF-D5D6-65528663B2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7151" y="3083312"/>
            <a:ext cx="914400" cy="914400"/>
          </a:xfrm>
          <a:prstGeom prst="rect">
            <a:avLst/>
          </a:prstGeom>
        </p:spPr>
      </p:pic>
      <p:pic>
        <p:nvPicPr>
          <p:cNvPr id="9" name="Gráfico 8" descr="Crianças estrutura de tópicos">
            <a:extLst>
              <a:ext uri="{FF2B5EF4-FFF2-40B4-BE49-F238E27FC236}">
                <a16:creationId xmlns:a16="http://schemas.microsoft.com/office/drawing/2014/main" id="{38E38382-1C47-8C8B-A200-C7330AFA71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84640" y="2872548"/>
            <a:ext cx="914400" cy="914400"/>
          </a:xfrm>
          <a:prstGeom prst="rect">
            <a:avLst/>
          </a:prstGeom>
        </p:spPr>
      </p:pic>
      <p:pic>
        <p:nvPicPr>
          <p:cNvPr id="11" name="Gráfico 10" descr="Homem com preenchimento sólido">
            <a:extLst>
              <a:ext uri="{FF2B5EF4-FFF2-40B4-BE49-F238E27FC236}">
                <a16:creationId xmlns:a16="http://schemas.microsoft.com/office/drawing/2014/main" id="{DC43C15F-D166-E041-CBE4-3433E8594F7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97985" y="3083312"/>
            <a:ext cx="914400" cy="914400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E9BB6FBA-EE48-05A8-F978-0D09DE3E671C}"/>
              </a:ext>
            </a:extLst>
          </p:cNvPr>
          <p:cNvSpPr txBox="1"/>
          <p:nvPr/>
        </p:nvSpPr>
        <p:spPr>
          <a:xfrm>
            <a:off x="2373477" y="4284636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Maria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5578B54-CAA8-7551-797E-786C3FC0C8B8}"/>
              </a:ext>
            </a:extLst>
          </p:cNvPr>
          <p:cNvSpPr txBox="1"/>
          <p:nvPr/>
        </p:nvSpPr>
        <p:spPr>
          <a:xfrm>
            <a:off x="7630320" y="4284636"/>
            <a:ext cx="649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João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4B5458A-BA9E-ADC3-B453-E044F6718B99}"/>
              </a:ext>
            </a:extLst>
          </p:cNvPr>
          <p:cNvSpPr txBox="1"/>
          <p:nvPr/>
        </p:nvSpPr>
        <p:spPr>
          <a:xfrm>
            <a:off x="4856157" y="2585265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Filhos</a:t>
            </a:r>
          </a:p>
        </p:txBody>
      </p:sp>
    </p:spTree>
    <p:extLst>
      <p:ext uri="{BB962C8B-B14F-4D97-AF65-F5344CB8AC3E}">
        <p14:creationId xmlns:p14="http://schemas.microsoft.com/office/powerpoint/2010/main" val="292689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A4B9F-D988-B821-626B-3A7AFB2B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1193966" cy="939972"/>
          </a:xfrm>
        </p:spPr>
        <p:txBody>
          <a:bodyPr>
            <a:noAutofit/>
          </a:bodyPr>
          <a:lstStyle/>
          <a:p>
            <a:r>
              <a:rPr lang="pt-BR" sz="3200" dirty="0"/>
              <a:t>LEFT JOIN</a:t>
            </a:r>
            <a:br>
              <a:rPr lang="pt-BR" sz="3200" dirty="0"/>
            </a:br>
            <a:r>
              <a:rPr lang="pt-BR" sz="3200" b="0" i="0" dirty="0">
                <a:solidFill>
                  <a:srgbClr val="0C0D0E"/>
                </a:solidFill>
                <a:effectLst/>
                <a:highlight>
                  <a:srgbClr val="FFFFFF"/>
                </a:highlight>
                <a:latin typeface="-apple-system"/>
              </a:rPr>
              <a:t>Retorna todos os registros da tabela esquerda (tabela A) e as correspondências que existirem com a tabela direita (tabela B).</a:t>
            </a:r>
            <a:endParaRPr lang="pt-BR" sz="3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6B0F1D-FA04-363C-17C6-1A4C225E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24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73F44C9-3502-4B6C-A73E-4E245AD85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2170" y="1610554"/>
            <a:ext cx="5360640" cy="3636891"/>
          </a:xfrm>
          <a:prstGeom prst="rect">
            <a:avLst/>
          </a:prstGeom>
        </p:spPr>
      </p:pic>
      <p:pic>
        <p:nvPicPr>
          <p:cNvPr id="6" name="Gráfico 5" descr="Mulher com preenchimento sólido">
            <a:extLst>
              <a:ext uri="{FF2B5EF4-FFF2-40B4-BE49-F238E27FC236}">
                <a16:creationId xmlns:a16="http://schemas.microsoft.com/office/drawing/2014/main" id="{7B1A40D5-9A8E-7FFF-E49D-7F64D78FE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97151" y="3083312"/>
            <a:ext cx="914400" cy="9144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1B9F574-7014-35D4-B14C-3819387BEDEC}"/>
              </a:ext>
            </a:extLst>
          </p:cNvPr>
          <p:cNvSpPr txBox="1"/>
          <p:nvPr/>
        </p:nvSpPr>
        <p:spPr>
          <a:xfrm>
            <a:off x="2373477" y="4284636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Maria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7A4AB8F-CA89-0837-D021-595A9C5934BE}"/>
              </a:ext>
            </a:extLst>
          </p:cNvPr>
          <p:cNvSpPr txBox="1"/>
          <p:nvPr/>
        </p:nvSpPr>
        <p:spPr>
          <a:xfrm>
            <a:off x="5559792" y="271398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Filhos</a:t>
            </a:r>
          </a:p>
        </p:txBody>
      </p:sp>
      <p:pic>
        <p:nvPicPr>
          <p:cNvPr id="9" name="Gráfico 8" descr="Crianças estrutura de tópicos">
            <a:extLst>
              <a:ext uri="{FF2B5EF4-FFF2-40B4-BE49-F238E27FC236}">
                <a16:creationId xmlns:a16="http://schemas.microsoft.com/office/drawing/2014/main" id="{1700A912-E4F0-BCB7-D408-4DD53D40EC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8275" y="3083312"/>
            <a:ext cx="914400" cy="914400"/>
          </a:xfrm>
          <a:prstGeom prst="rect">
            <a:avLst/>
          </a:prstGeom>
        </p:spPr>
      </p:pic>
      <p:pic>
        <p:nvPicPr>
          <p:cNvPr id="10" name="Gráfico 9" descr="Homem com preenchimento sólido">
            <a:extLst>
              <a:ext uri="{FF2B5EF4-FFF2-40B4-BE49-F238E27FC236}">
                <a16:creationId xmlns:a16="http://schemas.microsoft.com/office/drawing/2014/main" id="{C2FBBC30-5263-00CC-42AB-FC1E37FFB4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82810" y="2971800"/>
            <a:ext cx="914400" cy="9144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C5DD821-F82E-594F-9653-10BB285784E0}"/>
              </a:ext>
            </a:extLst>
          </p:cNvPr>
          <p:cNvSpPr txBox="1"/>
          <p:nvPr/>
        </p:nvSpPr>
        <p:spPr>
          <a:xfrm>
            <a:off x="8915145" y="4173124"/>
            <a:ext cx="649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João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3723339-F7D0-D6D0-436E-17A23DA7F065}"/>
              </a:ext>
            </a:extLst>
          </p:cNvPr>
          <p:cNvSpPr txBox="1"/>
          <p:nvPr/>
        </p:nvSpPr>
        <p:spPr>
          <a:xfrm>
            <a:off x="3135224" y="5549146"/>
            <a:ext cx="3244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 guarda dos filhos neste caso</a:t>
            </a:r>
          </a:p>
          <a:p>
            <a:r>
              <a:rPr lang="pt-BR" dirty="0"/>
              <a:t>fica com a mãe</a:t>
            </a:r>
          </a:p>
        </p:txBody>
      </p:sp>
    </p:spTree>
    <p:extLst>
      <p:ext uri="{BB962C8B-B14F-4D97-AF65-F5344CB8AC3E}">
        <p14:creationId xmlns:p14="http://schemas.microsoft.com/office/powerpoint/2010/main" val="4114848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F5BC72B-9327-877F-40D1-D00E26156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380" y="1334915"/>
            <a:ext cx="5955609" cy="404054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1A3A4B9F-D988-B821-626B-3A7AFB2B52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843" y="242571"/>
            <a:ext cx="11171663" cy="939972"/>
          </a:xfrm>
        </p:spPr>
        <p:txBody>
          <a:bodyPr>
            <a:noAutofit/>
          </a:bodyPr>
          <a:lstStyle/>
          <a:p>
            <a:r>
              <a:rPr lang="pt-BR" sz="3200" dirty="0"/>
              <a:t>RIGHT JOIN</a:t>
            </a:r>
            <a:br>
              <a:rPr lang="pt-BR" sz="3200" dirty="0"/>
            </a:br>
            <a:r>
              <a:rPr lang="pt-BR" sz="3200" b="0" i="0" dirty="0">
                <a:solidFill>
                  <a:srgbClr val="0C0D0E"/>
                </a:solidFill>
                <a:effectLst/>
                <a:highlight>
                  <a:srgbClr val="FFFFFF"/>
                </a:highlight>
                <a:latin typeface="-apple-system"/>
              </a:rPr>
              <a:t>Retornará todos os registros da tabela direita (tabela B) e as correspondências que existirem com a tabela esquerda (tabela A).</a:t>
            </a:r>
            <a:endParaRPr lang="pt-BR" sz="32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E6B0F1D-FA04-363C-17C6-1A4C225E3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25</a:t>
            </a:fld>
            <a:endParaRPr lang="pt-BR"/>
          </a:p>
        </p:txBody>
      </p:sp>
      <p:pic>
        <p:nvPicPr>
          <p:cNvPr id="6" name="Gráfico 5" descr="Mulher com preenchimento sólido">
            <a:extLst>
              <a:ext uri="{FF2B5EF4-FFF2-40B4-BE49-F238E27FC236}">
                <a16:creationId xmlns:a16="http://schemas.microsoft.com/office/drawing/2014/main" id="{7B1A40D5-9A8E-7FFF-E49D-7F64D78FEF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0" y="3217864"/>
            <a:ext cx="914400" cy="9144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B1B9F574-7014-35D4-B14C-3819387BEDEC}"/>
              </a:ext>
            </a:extLst>
          </p:cNvPr>
          <p:cNvSpPr txBox="1"/>
          <p:nvPr/>
        </p:nvSpPr>
        <p:spPr>
          <a:xfrm>
            <a:off x="2373477" y="4284636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Maria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7A4AB8F-CA89-0837-D021-595A9C5934BE}"/>
              </a:ext>
            </a:extLst>
          </p:cNvPr>
          <p:cNvSpPr txBox="1"/>
          <p:nvPr/>
        </p:nvSpPr>
        <p:spPr>
          <a:xfrm>
            <a:off x="5559792" y="2713980"/>
            <a:ext cx="7713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Filhos</a:t>
            </a:r>
          </a:p>
        </p:txBody>
      </p:sp>
      <p:pic>
        <p:nvPicPr>
          <p:cNvPr id="9" name="Gráfico 8" descr="Crianças estrutura de tópicos">
            <a:extLst>
              <a:ext uri="{FF2B5EF4-FFF2-40B4-BE49-F238E27FC236}">
                <a16:creationId xmlns:a16="http://schemas.microsoft.com/office/drawing/2014/main" id="{1700A912-E4F0-BCB7-D408-4DD53D40EC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8275" y="3083312"/>
            <a:ext cx="914400" cy="914400"/>
          </a:xfrm>
          <a:prstGeom prst="rect">
            <a:avLst/>
          </a:prstGeom>
        </p:spPr>
      </p:pic>
      <p:pic>
        <p:nvPicPr>
          <p:cNvPr id="10" name="Gráfico 9" descr="Homem com preenchimento sólido">
            <a:extLst>
              <a:ext uri="{FF2B5EF4-FFF2-40B4-BE49-F238E27FC236}">
                <a16:creationId xmlns:a16="http://schemas.microsoft.com/office/drawing/2014/main" id="{C2FBBC30-5263-00CC-42AB-FC1E37FFB46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71659" y="3217864"/>
            <a:ext cx="914400" cy="91440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C5DD821-F82E-594F-9653-10BB285784E0}"/>
              </a:ext>
            </a:extLst>
          </p:cNvPr>
          <p:cNvSpPr txBox="1"/>
          <p:nvPr/>
        </p:nvSpPr>
        <p:spPr>
          <a:xfrm>
            <a:off x="8915145" y="4284636"/>
            <a:ext cx="649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João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3723339-F7D0-D6D0-436E-17A23DA7F065}"/>
              </a:ext>
            </a:extLst>
          </p:cNvPr>
          <p:cNvSpPr txBox="1"/>
          <p:nvPr/>
        </p:nvSpPr>
        <p:spPr>
          <a:xfrm>
            <a:off x="6620546" y="5405274"/>
            <a:ext cx="32447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a guarda dos filhos neste caso</a:t>
            </a:r>
          </a:p>
          <a:p>
            <a:r>
              <a:rPr lang="pt-BR" dirty="0"/>
              <a:t>fica com o pai</a:t>
            </a:r>
          </a:p>
        </p:txBody>
      </p:sp>
    </p:spTree>
    <p:extLst>
      <p:ext uri="{BB962C8B-B14F-4D97-AF65-F5344CB8AC3E}">
        <p14:creationId xmlns:p14="http://schemas.microsoft.com/office/powerpoint/2010/main" val="21890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256FDA-9172-4359-86E7-DF353CF4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JOIN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FEC010-CD0C-4F7B-97A9-E8415C5CD3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INNER JOIN</a:t>
            </a:r>
            <a:r>
              <a:rPr lang="pt-BR" dirty="0"/>
              <a:t>: Retorna registros somente com valores correspondentes em ambas as tabelas (intersecção)</a:t>
            </a:r>
          </a:p>
          <a:p>
            <a:r>
              <a:rPr lang="pt-BR" dirty="0"/>
              <a:t> Sintaxe: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SELECT </a:t>
            </a:r>
            <a:r>
              <a:rPr lang="pt-BR" i="1" dirty="0">
                <a:latin typeface="Consolas" panose="020B0609020204030204" pitchFamily="49" charset="0"/>
              </a:rPr>
              <a:t>colunas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FROM </a:t>
            </a:r>
            <a:r>
              <a:rPr lang="pt-BR" i="1" dirty="0" err="1">
                <a:latin typeface="Consolas" panose="020B0609020204030204" pitchFamily="49" charset="0"/>
              </a:rPr>
              <a:t>tabela_A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INNER JOIN </a:t>
            </a:r>
            <a:r>
              <a:rPr lang="pt-BR" i="1" dirty="0" err="1">
                <a:latin typeface="Consolas" panose="020B0609020204030204" pitchFamily="49" charset="0"/>
              </a:rPr>
              <a:t>tabela_B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ON </a:t>
            </a:r>
            <a:r>
              <a:rPr lang="pt-BR" i="1" dirty="0" err="1">
                <a:latin typeface="Consolas" panose="020B0609020204030204" pitchFamily="49" charset="0"/>
              </a:rPr>
              <a:t>tabela_A.chave</a:t>
            </a:r>
            <a:r>
              <a:rPr lang="pt-BR" i="1" dirty="0">
                <a:latin typeface="Consolas" panose="020B0609020204030204" pitchFamily="49" charset="0"/>
              </a:rPr>
              <a:t> </a:t>
            </a:r>
            <a:r>
              <a:rPr lang="pt-BR" b="1" dirty="0">
                <a:latin typeface="Consolas" panose="020B0609020204030204" pitchFamily="49" charset="0"/>
              </a:rPr>
              <a:t>= </a:t>
            </a:r>
            <a:r>
              <a:rPr lang="pt-BR" i="1" dirty="0" err="1">
                <a:latin typeface="Consolas" panose="020B0609020204030204" pitchFamily="49" charset="0"/>
              </a:rPr>
              <a:t>tabela_B.chave</a:t>
            </a:r>
            <a:endParaRPr lang="pt-BR" i="1" dirty="0">
              <a:latin typeface="Consolas" panose="020B0609020204030204" pitchFamily="49" charset="0"/>
            </a:endParaRP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721897-EE8F-42CB-9A8B-A7DD9E348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26</a:t>
            </a:fld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2F7711-B0A9-465F-955A-69D1DE7A1122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8437426" y="3008312"/>
            <a:ext cx="2916374" cy="197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32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E8CCE2-6953-44AA-8AA7-3D4D31523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JOIN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01AF2F1-323A-40A3-9B82-AB473B53E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27</a:t>
            </a:fld>
            <a:endParaRPr lang="pt-BR"/>
          </a:p>
        </p:txBody>
      </p:sp>
      <p:graphicFrame>
        <p:nvGraphicFramePr>
          <p:cNvPr id="5" name="Tabela 5">
            <a:extLst>
              <a:ext uri="{FF2B5EF4-FFF2-40B4-BE49-F238E27FC236}">
                <a16:creationId xmlns:a16="http://schemas.microsoft.com/office/drawing/2014/main" id="{FF8B4A82-CA2B-4D12-BCEF-2FB8CC2B94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0724003"/>
              </p:ext>
            </p:extLst>
          </p:nvPr>
        </p:nvGraphicFramePr>
        <p:xfrm>
          <a:off x="657224" y="1305098"/>
          <a:ext cx="10877553" cy="47909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25851">
                  <a:extLst>
                    <a:ext uri="{9D8B030D-6E8A-4147-A177-3AD203B41FA5}">
                      <a16:colId xmlns:a16="http://schemas.microsoft.com/office/drawing/2014/main" val="3858348331"/>
                    </a:ext>
                  </a:extLst>
                </a:gridCol>
                <a:gridCol w="3625851">
                  <a:extLst>
                    <a:ext uri="{9D8B030D-6E8A-4147-A177-3AD203B41FA5}">
                      <a16:colId xmlns:a16="http://schemas.microsoft.com/office/drawing/2014/main" val="2838848438"/>
                    </a:ext>
                  </a:extLst>
                </a:gridCol>
                <a:gridCol w="3625851">
                  <a:extLst>
                    <a:ext uri="{9D8B030D-6E8A-4147-A177-3AD203B41FA5}">
                      <a16:colId xmlns:a16="http://schemas.microsoft.com/office/drawing/2014/main" val="2974852315"/>
                    </a:ext>
                  </a:extLst>
                </a:gridCol>
              </a:tblGrid>
              <a:tr h="2395451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+mj-lt"/>
                        </a:rPr>
                        <a:t>LEFT OUTER JOIN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+mj-lt"/>
                        </a:rPr>
                        <a:t>FULL JOIN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>
                          <a:latin typeface="+mj-lt"/>
                        </a:rPr>
                        <a:t>RIGHT OUTER JOIN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93617460"/>
                  </a:ext>
                </a:extLst>
              </a:tr>
              <a:tr h="2395451"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latin typeface="+mj-lt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2400" dirty="0">
                        <a:latin typeface="+mj-lt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dirty="0">
                        <a:latin typeface="+mj-lt"/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1006800"/>
                  </a:ext>
                </a:extLst>
              </a:tr>
            </a:tbl>
          </a:graphicData>
        </a:graphic>
      </p:graphicFrame>
      <p:pic>
        <p:nvPicPr>
          <p:cNvPr id="7" name="Imagem 6">
            <a:extLst>
              <a:ext uri="{FF2B5EF4-FFF2-40B4-BE49-F238E27FC236}">
                <a16:creationId xmlns:a16="http://schemas.microsoft.com/office/drawing/2014/main" id="{DAFF66F8-6255-41F8-A5C5-08914D2EB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177" y="1533698"/>
            <a:ext cx="2653132" cy="180000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A577A646-95B1-4AE9-AC6B-76472D2D7F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2693" y="1533698"/>
            <a:ext cx="2653133" cy="1800000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451B0278-43CA-4DE3-BCE1-7DFE893AC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9433" y="1533698"/>
            <a:ext cx="2653133" cy="1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231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037DD-C893-4EF9-BF6F-467B5380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INSERT INTO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FA358B-C2FA-40A4-BF38-4EE0C1480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Usada para inserir dados em uma tabela</a:t>
            </a:r>
            <a:endParaRPr lang="pt-BR" b="1" dirty="0"/>
          </a:p>
          <a:p>
            <a:r>
              <a:rPr lang="pt-BR" dirty="0"/>
              <a:t>A instrução contém os nomes dos campos e os valores que devem possuir ao serem incluídos no final da tabela</a:t>
            </a:r>
          </a:p>
          <a:p>
            <a:r>
              <a:rPr lang="pt-BR" dirty="0"/>
              <a:t>Campos omitidos recebem o valor </a:t>
            </a:r>
            <a:r>
              <a:rPr lang="pt-BR" b="1" dirty="0"/>
              <a:t>NULL</a:t>
            </a:r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F660AAE-11CE-45E7-ABEA-5E572D89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689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C037DD-C893-4EF9-BF6F-467B538042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INSERT INTO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3FA358B-C2FA-40A4-BF38-4EE0C1480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Sintaxe para colunas selecionadas: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INSERT INTO </a:t>
            </a:r>
            <a:r>
              <a:rPr lang="pt-BR" i="1" dirty="0">
                <a:latin typeface="Consolas" panose="020B0609020204030204" pitchFamily="49" charset="0"/>
              </a:rPr>
              <a:t>tabela</a:t>
            </a:r>
            <a:r>
              <a:rPr lang="pt-BR" b="1" dirty="0">
                <a:latin typeface="Consolas" panose="020B0609020204030204" pitchFamily="49" charset="0"/>
              </a:rPr>
              <a:t> (</a:t>
            </a:r>
            <a:r>
              <a:rPr lang="pt-BR" i="1" dirty="0">
                <a:latin typeface="Consolas" panose="020B0609020204030204" pitchFamily="49" charset="0"/>
              </a:rPr>
              <a:t>col1</a:t>
            </a:r>
            <a:r>
              <a:rPr lang="pt-BR" b="1" dirty="0">
                <a:latin typeface="Consolas" panose="020B0609020204030204" pitchFamily="49" charset="0"/>
              </a:rPr>
              <a:t>, </a:t>
            </a:r>
            <a:r>
              <a:rPr lang="pt-BR" i="1" dirty="0">
                <a:latin typeface="Consolas" panose="020B0609020204030204" pitchFamily="49" charset="0"/>
              </a:rPr>
              <a:t>col2</a:t>
            </a:r>
            <a:r>
              <a:rPr lang="pt-BR" b="1" dirty="0">
                <a:latin typeface="Consolas" panose="020B0609020204030204" pitchFamily="49" charset="0"/>
              </a:rPr>
              <a:t>, </a:t>
            </a:r>
            <a:r>
              <a:rPr lang="pt-BR" i="1" dirty="0">
                <a:latin typeface="Consolas" panose="020B0609020204030204" pitchFamily="49" charset="0"/>
              </a:rPr>
              <a:t>col3</a:t>
            </a:r>
            <a:r>
              <a:rPr lang="pt-BR" b="1" dirty="0">
                <a:latin typeface="Consolas" panose="020B0609020204030204" pitchFamily="49" charset="0"/>
              </a:rPr>
              <a:t>, ...)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VALUES (</a:t>
            </a:r>
            <a:r>
              <a:rPr lang="pt-BR" i="1" dirty="0">
                <a:latin typeface="Consolas" panose="020B0609020204030204" pitchFamily="49" charset="0"/>
              </a:rPr>
              <a:t>valor1</a:t>
            </a:r>
            <a:r>
              <a:rPr lang="pt-BR" b="1" dirty="0">
                <a:latin typeface="Consolas" panose="020B0609020204030204" pitchFamily="49" charset="0"/>
              </a:rPr>
              <a:t>, </a:t>
            </a:r>
            <a:r>
              <a:rPr lang="pt-BR" i="1" dirty="0">
                <a:latin typeface="Consolas" panose="020B0609020204030204" pitchFamily="49" charset="0"/>
              </a:rPr>
              <a:t>valor2</a:t>
            </a:r>
            <a:r>
              <a:rPr lang="pt-BR" b="1" dirty="0">
                <a:latin typeface="Consolas" panose="020B0609020204030204" pitchFamily="49" charset="0"/>
              </a:rPr>
              <a:t>, </a:t>
            </a:r>
            <a:r>
              <a:rPr lang="pt-BR" i="1" dirty="0">
                <a:latin typeface="Consolas" panose="020B0609020204030204" pitchFamily="49" charset="0"/>
              </a:rPr>
              <a:t>valor3</a:t>
            </a:r>
            <a:r>
              <a:rPr lang="pt-BR" b="1" dirty="0">
                <a:latin typeface="Consolas" panose="020B0609020204030204" pitchFamily="49" charset="0"/>
              </a:rPr>
              <a:t>, ...);</a:t>
            </a:r>
          </a:p>
          <a:p>
            <a:endParaRPr lang="pt-BR" dirty="0"/>
          </a:p>
          <a:p>
            <a:r>
              <a:rPr lang="pt-BR" dirty="0"/>
              <a:t>Sintaxe para todas as colunas: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INSERT INTO </a:t>
            </a:r>
            <a:r>
              <a:rPr lang="pt-BR" i="1" dirty="0">
                <a:latin typeface="Consolas" panose="020B0609020204030204" pitchFamily="49" charset="0"/>
              </a:rPr>
              <a:t>tabela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VALUES (</a:t>
            </a:r>
            <a:r>
              <a:rPr lang="pt-BR" i="1" dirty="0">
                <a:latin typeface="Consolas" panose="020B0609020204030204" pitchFamily="49" charset="0"/>
              </a:rPr>
              <a:t>valor1</a:t>
            </a:r>
            <a:r>
              <a:rPr lang="pt-BR" b="1" dirty="0">
                <a:latin typeface="Consolas" panose="020B0609020204030204" pitchFamily="49" charset="0"/>
              </a:rPr>
              <a:t>, </a:t>
            </a:r>
            <a:r>
              <a:rPr lang="pt-BR" i="1" dirty="0">
                <a:latin typeface="Consolas" panose="020B0609020204030204" pitchFamily="49" charset="0"/>
              </a:rPr>
              <a:t>valor2</a:t>
            </a:r>
            <a:r>
              <a:rPr lang="pt-BR" b="1" dirty="0">
                <a:latin typeface="Consolas" panose="020B0609020204030204" pitchFamily="49" charset="0"/>
              </a:rPr>
              <a:t>, </a:t>
            </a:r>
            <a:r>
              <a:rPr lang="pt-BR" i="1" dirty="0">
                <a:latin typeface="Consolas" panose="020B0609020204030204" pitchFamily="49" charset="0"/>
              </a:rPr>
              <a:t>valor3</a:t>
            </a:r>
            <a:r>
              <a:rPr lang="pt-BR" b="1" dirty="0">
                <a:latin typeface="Consolas" panose="020B0609020204030204" pitchFamily="49" charset="0"/>
              </a:rPr>
              <a:t>, ...);</a:t>
            </a:r>
          </a:p>
          <a:p>
            <a:endParaRPr lang="pt-BR" dirty="0"/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BF660AAE-11CE-45E7-ABEA-5E572D890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250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BE7FC-0EF2-4AD7-A271-192E311D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UPDATE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8A627C-5429-4C0D-A0D4-D3BD22C42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pt-BR" dirty="0"/>
              <a:t>Usada para modificar dados diretamente nos registros de uma tabela</a:t>
            </a:r>
          </a:p>
          <a:p>
            <a:r>
              <a:rPr lang="pt-BR" dirty="0"/>
              <a:t>Sintaxe: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UPDATE </a:t>
            </a:r>
            <a:r>
              <a:rPr lang="pt-BR" i="1" dirty="0">
                <a:latin typeface="Consolas" panose="020B0609020204030204" pitchFamily="49" charset="0"/>
              </a:rPr>
              <a:t>tabela</a:t>
            </a:r>
            <a:br>
              <a:rPr lang="pt-BR" i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SET </a:t>
            </a:r>
            <a:r>
              <a:rPr lang="pt-BR" i="1" dirty="0">
                <a:latin typeface="Consolas" panose="020B0609020204030204" pitchFamily="49" charset="0"/>
              </a:rPr>
              <a:t>coluna1</a:t>
            </a:r>
            <a:r>
              <a:rPr lang="pt-BR" b="1" dirty="0">
                <a:latin typeface="Consolas" panose="020B0609020204030204" pitchFamily="49" charset="0"/>
              </a:rPr>
              <a:t> = </a:t>
            </a:r>
            <a:r>
              <a:rPr lang="pt-BR" i="1" dirty="0">
                <a:latin typeface="Consolas" panose="020B0609020204030204" pitchFamily="49" charset="0"/>
              </a:rPr>
              <a:t>valor1</a:t>
            </a:r>
            <a:r>
              <a:rPr lang="pt-BR" b="1" dirty="0">
                <a:latin typeface="Consolas" panose="020B0609020204030204" pitchFamily="49" charset="0"/>
              </a:rPr>
              <a:t>, </a:t>
            </a:r>
            <a:r>
              <a:rPr lang="pt-BR" i="1" dirty="0">
                <a:latin typeface="Consolas" panose="020B0609020204030204" pitchFamily="49" charset="0"/>
              </a:rPr>
              <a:t>coluna2</a:t>
            </a:r>
            <a:r>
              <a:rPr lang="pt-BR" b="1" dirty="0">
                <a:latin typeface="Consolas" panose="020B0609020204030204" pitchFamily="49" charset="0"/>
              </a:rPr>
              <a:t> = </a:t>
            </a:r>
            <a:r>
              <a:rPr lang="pt-BR" i="1" dirty="0">
                <a:latin typeface="Consolas" panose="020B0609020204030204" pitchFamily="49" charset="0"/>
              </a:rPr>
              <a:t>valor2</a:t>
            </a:r>
            <a:r>
              <a:rPr lang="pt-BR" b="1" dirty="0">
                <a:latin typeface="Consolas" panose="020B0609020204030204" pitchFamily="49" charset="0"/>
              </a:rPr>
              <a:t>, ...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WHERE </a:t>
            </a:r>
            <a:r>
              <a:rPr lang="pt-BR" i="1" dirty="0">
                <a:latin typeface="Consolas" panose="020B0609020204030204" pitchFamily="49" charset="0"/>
              </a:rPr>
              <a:t>condição</a:t>
            </a:r>
            <a:r>
              <a:rPr lang="pt-BR" b="1" dirty="0">
                <a:latin typeface="Consolas" panose="020B0609020204030204" pitchFamily="49" charset="0"/>
              </a:rPr>
              <a:t>;</a:t>
            </a:r>
          </a:p>
          <a:p>
            <a:r>
              <a:rPr lang="pt-BR" b="1" dirty="0">
                <a:solidFill>
                  <a:srgbClr val="FF0000"/>
                </a:solidFill>
              </a:rPr>
              <a:t>Cuidado</a:t>
            </a:r>
            <a:r>
              <a:rPr lang="pt-BR" dirty="0">
                <a:solidFill>
                  <a:srgbClr val="FF0000"/>
                </a:solidFill>
              </a:rPr>
              <a:t>: A cláusula </a:t>
            </a:r>
            <a:r>
              <a:rPr lang="pt-BR" b="1" dirty="0">
                <a:solidFill>
                  <a:srgbClr val="FF0000"/>
                </a:solidFill>
              </a:rPr>
              <a:t>WHERE</a:t>
            </a:r>
            <a:r>
              <a:rPr lang="pt-BR" dirty="0">
                <a:solidFill>
                  <a:srgbClr val="FF0000"/>
                </a:solidFill>
              </a:rPr>
              <a:t> especifica quais registros devem ser atualizados. Se omitida, todos serão atualizados. A operação não pode ser desfeita.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2DD52C-1FD1-46A9-823B-73406435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1428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DBE7FC-0EF2-4AD7-A271-192E311D4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Cláusula DELETE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A8A627C-5429-4C0D-A0D4-D3BD22C42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Usada para excluir registros de uma tabela</a:t>
            </a:r>
          </a:p>
          <a:p>
            <a:r>
              <a:rPr lang="pt-BR" dirty="0"/>
              <a:t>Sintaxe:</a:t>
            </a:r>
          </a:p>
          <a:p>
            <a:pPr lvl="1"/>
            <a:r>
              <a:rPr lang="pt-BR" b="1" dirty="0">
                <a:latin typeface="Consolas" panose="020B0609020204030204" pitchFamily="49" charset="0"/>
              </a:rPr>
              <a:t>DELETE FROM </a:t>
            </a:r>
            <a:r>
              <a:rPr lang="pt-BR" i="1" dirty="0">
                <a:latin typeface="Consolas" panose="020B0609020204030204" pitchFamily="49" charset="0"/>
              </a:rPr>
              <a:t>tabela</a:t>
            </a:r>
            <a:br>
              <a:rPr lang="pt-BR" b="1" dirty="0">
                <a:latin typeface="Consolas" panose="020B0609020204030204" pitchFamily="49" charset="0"/>
              </a:rPr>
            </a:br>
            <a:r>
              <a:rPr lang="pt-BR" b="1" dirty="0">
                <a:latin typeface="Consolas" panose="020B0609020204030204" pitchFamily="49" charset="0"/>
              </a:rPr>
              <a:t>WHERE </a:t>
            </a:r>
            <a:r>
              <a:rPr lang="pt-BR" i="1" dirty="0">
                <a:latin typeface="Consolas" panose="020B0609020204030204" pitchFamily="49" charset="0"/>
              </a:rPr>
              <a:t>condição</a:t>
            </a:r>
            <a:r>
              <a:rPr lang="pt-BR" b="1" dirty="0">
                <a:latin typeface="Consolas" panose="020B0609020204030204" pitchFamily="49" charset="0"/>
              </a:rPr>
              <a:t>;</a:t>
            </a:r>
          </a:p>
          <a:p>
            <a:r>
              <a:rPr lang="pt-BR" b="1" dirty="0">
                <a:solidFill>
                  <a:srgbClr val="FF0000"/>
                </a:solidFill>
              </a:rPr>
              <a:t>Cuidado</a:t>
            </a:r>
            <a:r>
              <a:rPr lang="pt-BR" dirty="0">
                <a:solidFill>
                  <a:srgbClr val="FF0000"/>
                </a:solidFill>
              </a:rPr>
              <a:t>: A cláusula </a:t>
            </a:r>
            <a:r>
              <a:rPr lang="pt-BR" b="1" dirty="0">
                <a:solidFill>
                  <a:srgbClr val="FF0000"/>
                </a:solidFill>
              </a:rPr>
              <a:t>WHERE</a:t>
            </a:r>
            <a:r>
              <a:rPr lang="pt-BR" dirty="0">
                <a:solidFill>
                  <a:srgbClr val="FF0000"/>
                </a:solidFill>
              </a:rPr>
              <a:t> especifica quais registros devem ser excluídos. Se omitida, todos serão excluídos. A operação não pode ser desfeita.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D2DD52C-1FD1-46A9-823B-73406435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9E3B6-737F-4CA7-98B8-1381CDCC1EA2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4046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>
        <p:fade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Curso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FFC000"/>
      </a:accent2>
      <a:accent3>
        <a:srgbClr val="70AD47"/>
      </a:accent3>
      <a:accent4>
        <a:srgbClr val="F14124"/>
      </a:accent4>
      <a:accent5>
        <a:srgbClr val="33CCCC"/>
      </a:accent5>
      <a:accent6>
        <a:srgbClr val="ED7D31"/>
      </a:accent6>
      <a:hlink>
        <a:srgbClr val="0563C1"/>
      </a:hlink>
      <a:folHlink>
        <a:srgbClr val="954F72"/>
      </a:folHlink>
    </a:clrScheme>
    <a:fontScheme name="Segoe">
      <a:majorFont>
        <a:latin typeface="Segoe UI Black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2245</TotalTime>
  <Words>1419</Words>
  <Application>Microsoft Office PowerPoint</Application>
  <PresentationFormat>Widescreen</PresentationFormat>
  <Paragraphs>230</Paragraphs>
  <Slides>31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40" baseType="lpstr">
      <vt:lpstr>-apple-system</vt:lpstr>
      <vt:lpstr>Arial</vt:lpstr>
      <vt:lpstr>Calibri</vt:lpstr>
      <vt:lpstr>Consolas</vt:lpstr>
      <vt:lpstr>Segoe UI</vt:lpstr>
      <vt:lpstr>Segoe UI Black</vt:lpstr>
      <vt:lpstr>Wingdings</vt:lpstr>
      <vt:lpstr>Wingdings 2</vt:lpstr>
      <vt:lpstr>Tema do Office</vt:lpstr>
      <vt:lpstr>Consultas SQL</vt:lpstr>
      <vt:lpstr>Consulta SQL</vt:lpstr>
      <vt:lpstr>Instruções de manipulação de dados</vt:lpstr>
      <vt:lpstr>Cláusula SELECT</vt:lpstr>
      <vt:lpstr>Cláusula FROM (origem dos dados)</vt:lpstr>
      <vt:lpstr>Sintaxe para SELECT e FROM</vt:lpstr>
      <vt:lpstr>Renomear colunas</vt:lpstr>
      <vt:lpstr>Colunas virtuais</vt:lpstr>
      <vt:lpstr>Colunas virtuais</vt:lpstr>
      <vt:lpstr>Funções do SQL</vt:lpstr>
      <vt:lpstr>Cláusula DISTINCT</vt:lpstr>
      <vt:lpstr>Cláusula TOP</vt:lpstr>
      <vt:lpstr>Cláusula WHERE</vt:lpstr>
      <vt:lpstr>Operador LIKE</vt:lpstr>
      <vt:lpstr>Operador LIKE</vt:lpstr>
      <vt:lpstr>Subconsulta</vt:lpstr>
      <vt:lpstr>Agregação</vt:lpstr>
      <vt:lpstr>Cláusula GROUP BY</vt:lpstr>
      <vt:lpstr>Cláusula ORDER BY</vt:lpstr>
      <vt:lpstr>Cláusula ORDER BY</vt:lpstr>
      <vt:lpstr>Cláusula JOIN</vt:lpstr>
      <vt:lpstr>Cláusula JOIN</vt:lpstr>
      <vt:lpstr>INNER JOIN ( relação entre as tabelas)</vt:lpstr>
      <vt:lpstr>LEFT JOIN Retorna todos os registros da tabela esquerda (tabela A) e as correspondências que existirem com a tabela direita (tabela B).</vt:lpstr>
      <vt:lpstr>RIGHT JOIN Retornará todos os registros da tabela direita (tabela B) e as correspondências que existirem com a tabela esquerda (tabela A).</vt:lpstr>
      <vt:lpstr>Cláusula JOIN</vt:lpstr>
      <vt:lpstr>Cláusula JOIN</vt:lpstr>
      <vt:lpstr>Cláusula INSERT INTO</vt:lpstr>
      <vt:lpstr>Cláusula INSERT INTO</vt:lpstr>
      <vt:lpstr>Cláusula UPDATE</vt:lpstr>
      <vt:lpstr>Cláusula DELETE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linguagem SQL</dc:title>
  <cp:lastModifiedBy>marcelo sena</cp:lastModifiedBy>
  <cp:revision>92</cp:revision>
  <cp:lastPrinted>2019-09-14T04:12:44Z</cp:lastPrinted>
  <dcterms:created xsi:type="dcterms:W3CDTF">2019-09-08T19:32:35Z</dcterms:created>
  <dcterms:modified xsi:type="dcterms:W3CDTF">2025-02-26T18:30:43Z</dcterms:modified>
</cp:coreProperties>
</file>