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2"/>
    <p:sldId id="327" r:id="rId3"/>
    <p:sldId id="329" r:id="rId4"/>
    <p:sldId id="328" r:id="rId5"/>
    <p:sldId id="332" r:id="rId6"/>
    <p:sldId id="333" r:id="rId7"/>
    <p:sldId id="334" r:id="rId8"/>
    <p:sldId id="263" r:id="rId9"/>
    <p:sldId id="335" r:id="rId10"/>
    <p:sldId id="265" r:id="rId11"/>
    <p:sldId id="330" r:id="rId12"/>
    <p:sldId id="266" r:id="rId13"/>
    <p:sldId id="272" r:id="rId14"/>
    <p:sldId id="331" r:id="rId15"/>
    <p:sldId id="261" r:id="rId16"/>
    <p:sldId id="262" r:id="rId17"/>
    <p:sldId id="259" r:id="rId18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5CEFEB3-061D-4B08-9410-3298C7ECCEC2}">
          <p14:sldIdLst/>
        </p14:section>
        <p14:section name="A linguagem SQL" id="{D68C392B-6A23-4937-AFF8-CD755A3E69DE}">
          <p14:sldIdLst>
            <p14:sldId id="258"/>
            <p14:sldId id="327"/>
            <p14:sldId id="329"/>
            <p14:sldId id="328"/>
            <p14:sldId id="332"/>
            <p14:sldId id="333"/>
            <p14:sldId id="334"/>
            <p14:sldId id="263"/>
            <p14:sldId id="335"/>
            <p14:sldId id="265"/>
            <p14:sldId id="330"/>
            <p14:sldId id="266"/>
            <p14:sldId id="272"/>
            <p14:sldId id="331"/>
            <p14:sldId id="261"/>
            <p14:sldId id="262"/>
            <p14:sldId id="259"/>
          </p14:sldIdLst>
        </p14:section>
        <p14:section name="Consultas SQL" id="{D8017A75-7040-4C4A-AD66-CFD347323C5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489F2-E6CA-4ECE-AC3B-C02D2F97E243}" v="72" dt="2019-09-11T21:05:55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2BE4C0-06DC-49EA-AF55-3BE07684C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23B3A2-DE5F-4862-89F4-B2B8DF5F92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94AB1C8F-FB1B-4324-A532-F8C30B383C4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7DF6C-9F35-4667-962A-20023CA177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19A6CC-E2D5-4EBA-97AE-8CA570F8AA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AFDCD82-A8E4-4E96-9CB0-5D61B3CCF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152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39EF51A4-6AB0-480C-8050-1239BA2868DE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4571905-D285-442D-9BD0-5B32737416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66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FB5E1-C224-49DE-A9FB-3D3D3105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59928-2CBF-4658-8107-03DDA1CBF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D3327F-7740-4483-ABCD-77112EAE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7069-5196-4648-A946-A08ECFBCE431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AE550-EC77-415E-AD7F-3DF64CD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65152-49A0-46F1-B4AE-2200C09B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5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C1844-5994-4DAF-994C-64CA39C2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0BE3B-F77B-44E6-B858-F0CC1E25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7CBF8B-F754-4CDA-9013-215ADBAA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DF6-F2D5-477F-A484-3ABB3AB4C4AB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EB505-C267-4268-A1ED-A73E586D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D53A9-8AFE-430F-B9FD-4C6228FC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1CF85-DA2D-4E81-8B12-5EE0AAD3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F5106-5389-45AB-AACC-4ECF2AA5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10AB1-4241-4D63-BCDF-A5AB6378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0B1B-EE0E-4116-85A0-5AAEAEFD967F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5F9DA-36DB-4600-B079-658EE8D6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AA28A-EE85-460A-ABD3-C7A00290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3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89A7-5BE5-404E-8F8C-05EE6185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8B0B0-9AEB-471B-9663-B80EB2E4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E64117-C07B-4875-85B9-4FAA321AE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9FF8AD-9E6A-4A5C-B412-0ACFB70D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EF55-73F6-4F78-9746-A46F628CD087}" type="datetime1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48916-25A9-47B9-8802-FBCB1305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0F6B77-4CD1-43B7-884E-FE3378DF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4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20697-CCE6-4C23-878A-8572994B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4C6EC-A137-4045-9AC8-1A54C624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82CB4-C2D9-4418-9DA7-5EDF9DE8D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66D326-0352-48AC-909B-EF216AF9E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1A28B6-2EF3-4BE4-8CD5-D21CF52C4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D73C5B-6D03-4D46-A08A-9A020CDA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B62E-6BE6-4253-AA72-22FA662DE82F}" type="datetime1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6E3493-DC4F-46F0-A4B9-4B95A415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CD5F1D-EFDC-4E70-B521-21790136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05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BA25D-7EA9-4DE4-AECD-BE5BC343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2BF2FC-671D-45DA-B5A8-C53CB251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64DF-D237-4D7A-A7C0-D1D93C960269}" type="datetime1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0BE9B6-80AF-49BB-BF50-3DE6DD4D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64AC62-CA5A-427B-B2A9-3E0D2772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553CC9-CD1D-4782-A30D-C61A7C4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31D2-4DBB-40CE-B7B1-FD186FA9E07B}" type="datetime1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6B4985-DE76-4D9D-A51B-FBEBA7E4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FB9694-D0CC-4BF8-9326-5CF45E1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6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3CF51AA-CFA2-41EF-8165-F1A8BB9A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70C0B9-A95B-49A4-A4B9-277B90CB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102"/>
            <a:ext cx="10515600" cy="473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DF72B-0CE1-4977-814B-4627001DB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0F721-04F4-4667-BF35-4741C80794AC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1FA7F3-D92D-425C-ABB1-36A899CA4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ECEC5-68FC-4DDB-87C5-43263D64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78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 2" panose="05020102010507070707" pitchFamily="18" charset="2"/>
        <a:buChar char="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" panose="05000000000000000000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-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700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2CE2E1-65C8-407E-A91E-41C0E030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</a:t>
            </a:fld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901A31-2240-DAAE-993D-1BCF87B6AEC8}"/>
              </a:ext>
            </a:extLst>
          </p:cNvPr>
          <p:cNvSpPr txBox="1"/>
          <p:nvPr/>
        </p:nvSpPr>
        <p:spPr>
          <a:xfrm>
            <a:off x="707158" y="754719"/>
            <a:ext cx="823494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Entender</a:t>
            </a:r>
            <a:r>
              <a:rPr lang="pt-BR" sz="2400" dirty="0"/>
              <a:t> </a:t>
            </a:r>
            <a:r>
              <a:rPr lang="pt-BR" sz="44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o modelo relacional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674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30B9D-CD62-19E7-3C21-67744B80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</p:spPr>
        <p:txBody>
          <a:bodyPr/>
          <a:lstStyle/>
          <a:p>
            <a:r>
              <a:rPr lang="pt-BR" dirty="0"/>
              <a:t>Conceitos Entidades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CC1B65-9429-A316-EE9F-9745AFD8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1CC9C9-583D-9014-003F-951F0AA9BEEC}"/>
              </a:ext>
            </a:extLst>
          </p:cNvPr>
          <p:cNvSpPr/>
          <p:nvPr/>
        </p:nvSpPr>
        <p:spPr>
          <a:xfrm>
            <a:off x="838200" y="3031260"/>
            <a:ext cx="3667991" cy="10494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ALUNO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4408723-D05D-C216-51DF-001579E97EDC}"/>
              </a:ext>
            </a:extLst>
          </p:cNvPr>
          <p:cNvSpPr/>
          <p:nvPr/>
        </p:nvSpPr>
        <p:spPr>
          <a:xfrm>
            <a:off x="6776604" y="3031260"/>
            <a:ext cx="3667991" cy="10494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NOTAS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BF4560C-51F7-D64A-9962-4CD7040A78EE}"/>
              </a:ext>
            </a:extLst>
          </p:cNvPr>
          <p:cNvSpPr/>
          <p:nvPr/>
        </p:nvSpPr>
        <p:spPr>
          <a:xfrm>
            <a:off x="838200" y="4526973"/>
            <a:ext cx="3667991" cy="10494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CURSO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62EEF44-40FB-DD44-CD31-179AA58AD895}"/>
              </a:ext>
            </a:extLst>
          </p:cNvPr>
          <p:cNvSpPr/>
          <p:nvPr/>
        </p:nvSpPr>
        <p:spPr>
          <a:xfrm>
            <a:off x="6776604" y="4526973"/>
            <a:ext cx="3667991" cy="10494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DISCIPLINAS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74BCC2-BEB5-C899-7D72-22AD85A05CFC}"/>
              </a:ext>
            </a:extLst>
          </p:cNvPr>
          <p:cNvSpPr txBox="1"/>
          <p:nvPr/>
        </p:nvSpPr>
        <p:spPr>
          <a:xfrm>
            <a:off x="838200" y="1431791"/>
            <a:ext cx="90706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São representadas por um </a:t>
            </a:r>
            <a:r>
              <a:rPr lang="pt-BR" b="1" dirty="0"/>
              <a:t>retângulo</a:t>
            </a:r>
            <a:r>
              <a:rPr lang="pt-BR" dirty="0"/>
              <a:t> e conectam-se com outras entidades por meio de </a:t>
            </a:r>
          </a:p>
          <a:p>
            <a:r>
              <a:rPr lang="pt-BR" dirty="0"/>
              <a:t>relacionamentos, que são geralmente representados por linhas conectando entidades, </a:t>
            </a:r>
          </a:p>
          <a:p>
            <a:r>
              <a:rPr lang="pt-BR" dirty="0"/>
              <a:t>com a finalidade de mostrar como os dados se relacionam entre si.</a:t>
            </a:r>
          </a:p>
        </p:txBody>
      </p:sp>
    </p:spTree>
    <p:extLst>
      <p:ext uri="{BB962C8B-B14F-4D97-AF65-F5344CB8AC3E}">
        <p14:creationId xmlns:p14="http://schemas.microsoft.com/office/powerpoint/2010/main" val="83972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A443-B644-3C8D-9211-EBF4D6BD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a Entidade-Relacionamento para o banco de dados do sistema Web.">
            <a:extLst>
              <a:ext uri="{FF2B5EF4-FFF2-40B4-BE49-F238E27FC236}">
                <a16:creationId xmlns:a16="http://schemas.microsoft.com/office/drawing/2014/main" id="{767440A6-4246-3A91-4222-081D2B868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564" y="1944787"/>
            <a:ext cx="6650181" cy="4253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A5639C-A969-0BCF-5082-B6487DEA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Entidades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B7FEA4-410C-119D-5579-121A8C07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E06CCB-774C-E879-82CD-F5401F81BF51}"/>
              </a:ext>
            </a:extLst>
          </p:cNvPr>
          <p:cNvSpPr txBox="1"/>
          <p:nvPr/>
        </p:nvSpPr>
        <p:spPr>
          <a:xfrm>
            <a:off x="1007918" y="2265218"/>
            <a:ext cx="3823421" cy="331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44444"/>
                </a:solidFill>
                <a:effectLst/>
                <a:latin typeface="inherit"/>
              </a:rPr>
              <a:t> Retângulo: representa as entidades</a:t>
            </a: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444444"/>
              </a:solidFill>
              <a:effectLst/>
              <a:latin typeface="inherit"/>
            </a:endParaRP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44444"/>
                </a:solidFill>
                <a:effectLst/>
                <a:latin typeface="inherit"/>
              </a:rPr>
              <a:t> Elipse: atributos das entidades</a:t>
            </a: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444444"/>
              </a:solidFill>
              <a:effectLst/>
              <a:latin typeface="inherit"/>
            </a:endParaRP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44444"/>
                </a:solidFill>
                <a:effectLst/>
                <a:latin typeface="inherit"/>
              </a:rPr>
              <a:t> Losangos: identifica os relacionamentos entre as entidades</a:t>
            </a: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444444"/>
              </a:solidFill>
              <a:effectLst/>
              <a:latin typeface="inherit"/>
            </a:endParaRPr>
          </a:p>
          <a:p>
            <a:pPr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44444"/>
                </a:solidFill>
                <a:effectLst/>
                <a:latin typeface="inherit"/>
              </a:rPr>
              <a:t> Linhas: utilizado para ligar atributos à entidades e relacionamentos com as entidades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316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76756A-E87F-23B6-8F7B-D6E5B132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4</a:t>
            </a:fld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260F90-056C-20B9-28A1-3875EB4D3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20" y="1143001"/>
            <a:ext cx="11023159" cy="471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98AF6F2-1820-A17A-112D-020E2460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</p:spPr>
        <p:txBody>
          <a:bodyPr/>
          <a:lstStyle/>
          <a:p>
            <a:r>
              <a:rPr lang="pt-BR" dirty="0"/>
              <a:t>Conceitos Entidades</a:t>
            </a:r>
          </a:p>
        </p:txBody>
      </p:sp>
    </p:spTree>
    <p:extLst>
      <p:ext uri="{BB962C8B-B14F-4D97-AF65-F5344CB8AC3E}">
        <p14:creationId xmlns:p14="http://schemas.microsoft.com/office/powerpoint/2010/main" val="406785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8F170-8C5A-A93C-A9D9-657253B1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80DE7B-1810-0C56-4D46-49C55841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368"/>
            <a:ext cx="10515600" cy="4738861"/>
          </a:xfrm>
        </p:spPr>
        <p:txBody>
          <a:bodyPr/>
          <a:lstStyle/>
          <a:p>
            <a:r>
              <a:rPr lang="pt-BR" b="0" i="0" dirty="0">
                <a:solidFill>
                  <a:srgbClr val="444444"/>
                </a:solidFill>
                <a:effectLst/>
                <a:latin typeface="Arimo"/>
              </a:rPr>
              <a:t>Um-para-um (1-1)</a:t>
            </a:r>
          </a:p>
          <a:p>
            <a:pPr marL="450000" lvl="1" indent="0">
              <a:buNone/>
            </a:pPr>
            <a:r>
              <a:rPr lang="pt-BR" sz="2800" dirty="0">
                <a:solidFill>
                  <a:srgbClr val="444444"/>
                </a:solidFill>
                <a:latin typeface="Arimo"/>
              </a:rPr>
              <a:t>um cliente pode ter apenas um usuário cadastrado para acessar o sistema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2142E6-F3F5-E6D8-4C36-CE09FEDA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5</a:t>
            </a:fld>
            <a:endParaRPr lang="pt-BR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4B51743-5239-8F5A-AA7F-E20A4C023BD3}"/>
              </a:ext>
            </a:extLst>
          </p:cNvPr>
          <p:cNvGrpSpPr/>
          <p:nvPr/>
        </p:nvGrpSpPr>
        <p:grpSpPr>
          <a:xfrm>
            <a:off x="1409699" y="3654798"/>
            <a:ext cx="8572501" cy="1049482"/>
            <a:chOff x="1409699" y="2660072"/>
            <a:chExt cx="8572501" cy="1049482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34B55E6-F57F-DDA9-EAB1-0F25A0C21D5D}"/>
                </a:ext>
              </a:extLst>
            </p:cNvPr>
            <p:cNvSpPr/>
            <p:nvPr/>
          </p:nvSpPr>
          <p:spPr>
            <a:xfrm>
              <a:off x="1409699" y="2660072"/>
              <a:ext cx="2344884" cy="10494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3200" b="1" dirty="0"/>
                <a:t>CLIENTE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9AE06BA-CA0B-8883-84B5-028EB434ADF2}"/>
                </a:ext>
              </a:extLst>
            </p:cNvPr>
            <p:cNvSpPr/>
            <p:nvPr/>
          </p:nvSpPr>
          <p:spPr>
            <a:xfrm>
              <a:off x="7637316" y="2660072"/>
              <a:ext cx="2344884" cy="10494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3200" b="1" dirty="0"/>
                <a:t>USUARIO</a:t>
              </a:r>
            </a:p>
          </p:txBody>
        </p:sp>
        <p:sp>
          <p:nvSpPr>
            <p:cNvPr id="10" name="Fluxograma: Decisão 9">
              <a:extLst>
                <a:ext uri="{FF2B5EF4-FFF2-40B4-BE49-F238E27FC236}">
                  <a16:creationId xmlns:a16="http://schemas.microsoft.com/office/drawing/2014/main" id="{1170C967-35E0-353E-968C-F7066A58F5EE}"/>
                </a:ext>
              </a:extLst>
            </p:cNvPr>
            <p:cNvSpPr/>
            <p:nvPr/>
          </p:nvSpPr>
          <p:spPr>
            <a:xfrm>
              <a:off x="4935682" y="2714827"/>
              <a:ext cx="1828800" cy="939972"/>
            </a:xfrm>
            <a:prstGeom prst="flowChartDecis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TEM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9A405DE-4F5E-0118-F7A1-7EA6F335EEE2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3754583" y="3184813"/>
              <a:ext cx="118109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F3B0F6E8-54DE-A32B-A611-150A77D88194}"/>
                </a:ext>
              </a:extLst>
            </p:cNvPr>
            <p:cNvCxnSpPr>
              <a:cxnSpLocks/>
              <a:stCxn id="10" idx="3"/>
              <a:endCxn id="9" idx="1"/>
            </p:cNvCxnSpPr>
            <p:nvPr/>
          </p:nvCxnSpPr>
          <p:spPr>
            <a:xfrm>
              <a:off x="6764482" y="3184813"/>
              <a:ext cx="87283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5DD1156A-1DF2-1B3B-4228-D20307C8AE22}"/>
                </a:ext>
              </a:extLst>
            </p:cNvPr>
            <p:cNvSpPr txBox="1"/>
            <p:nvPr/>
          </p:nvSpPr>
          <p:spPr>
            <a:xfrm>
              <a:off x="3907998" y="2815481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DDC4425D-3581-CACA-CE4D-5FD6B9D8B9DD}"/>
                </a:ext>
              </a:extLst>
            </p:cNvPr>
            <p:cNvSpPr txBox="1"/>
            <p:nvPr/>
          </p:nvSpPr>
          <p:spPr>
            <a:xfrm>
              <a:off x="7140582" y="280006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981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70E2-08D5-E738-0E37-820D5371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00693-3D2D-49A9-FD66-2BBBF5CA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11705-38C5-B99C-4939-D57B248E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444444"/>
                </a:solidFill>
                <a:effectLst/>
                <a:latin typeface="Arimo"/>
              </a:rPr>
              <a:t>Um-para-muitos (1-N)</a:t>
            </a:r>
          </a:p>
          <a:p>
            <a:pPr marL="450000" lvl="1" indent="0">
              <a:buNone/>
            </a:pPr>
            <a:r>
              <a:rPr lang="pt-BR" sz="2800" dirty="0">
                <a:solidFill>
                  <a:srgbClr val="444444"/>
                </a:solidFill>
                <a:latin typeface="Arimo"/>
              </a:rPr>
              <a:t>uma pessoa possui um carro ou mais, mas um carro pertence somente a uma pessoa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463FEA-39C0-4F4D-F84B-8BCAD354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6</a:t>
            </a:fld>
            <a:endParaRPr lang="pt-B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1661A58-1F5D-0A78-C436-E9288E716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050" y="3068160"/>
            <a:ext cx="9548863" cy="268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42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372C45-E353-9133-CF2E-A7C623481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444444"/>
                </a:solidFill>
                <a:effectLst/>
                <a:latin typeface="Arimo"/>
              </a:rPr>
              <a:t>Muitos-para-muitos (N-N ou N-M)</a:t>
            </a:r>
          </a:p>
          <a:p>
            <a:pPr marL="450000" lvl="1" indent="0">
              <a:buNone/>
            </a:pPr>
            <a:r>
              <a:rPr lang="pt-BR" sz="2800" dirty="0">
                <a:solidFill>
                  <a:srgbClr val="444444"/>
                </a:solidFill>
                <a:latin typeface="Arimo"/>
              </a:rPr>
              <a:t>Um funcionário pode participar de um ou mais projetos e um projeto ou mais podem envolver mais de um funcionário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5DD75-4483-4564-8418-F5CA1752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7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0C121E1-0F7F-987D-CF76-4611E7F4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</p:spPr>
        <p:txBody>
          <a:bodyPr/>
          <a:lstStyle/>
          <a:p>
            <a:r>
              <a:rPr lang="pt-BR" dirty="0"/>
              <a:t>Tipos de Entidades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C1CF24D7-F972-9710-8D0D-C16DED44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89" y="3626917"/>
            <a:ext cx="10313111" cy="272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79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6CF56F-C15B-4600-B6C9-CC294F22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18" y="408437"/>
            <a:ext cx="2975264" cy="939972"/>
          </a:xfrm>
        </p:spPr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ED34B09-C988-4FD3-A6BB-07DF4A902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38102"/>
            <a:ext cx="12043064" cy="4738861"/>
          </a:xfrm>
        </p:spPr>
        <p:txBody>
          <a:bodyPr/>
          <a:lstStyle/>
          <a:p>
            <a:pPr lvl="1"/>
            <a:r>
              <a:rPr lang="pt-BR" b="1" dirty="0"/>
              <a:t>Tabela</a:t>
            </a:r>
            <a:r>
              <a:rPr lang="pt-BR" dirty="0"/>
              <a:t>: </a:t>
            </a:r>
            <a:r>
              <a:rPr lang="pt-BR" sz="2800" dirty="0"/>
              <a:t>um conjunto de dados organizados em linhas e colunas</a:t>
            </a:r>
          </a:p>
          <a:p>
            <a:pPr lvl="1"/>
            <a:endParaRPr lang="pt-BR" dirty="0"/>
          </a:p>
          <a:p>
            <a:pPr lvl="1"/>
            <a:r>
              <a:rPr lang="pt-BR" b="1" dirty="0"/>
              <a:t>Registro</a:t>
            </a:r>
            <a:r>
              <a:rPr lang="pt-BR" dirty="0"/>
              <a:t>: conjunto de informações de um item da tabela (linha)</a:t>
            </a:r>
          </a:p>
          <a:p>
            <a:pPr lvl="1"/>
            <a:endParaRPr lang="pt-BR" dirty="0"/>
          </a:p>
          <a:p>
            <a:pPr lvl="1"/>
            <a:r>
              <a:rPr lang="pt-BR" b="1" dirty="0"/>
              <a:t>Campo</a:t>
            </a:r>
            <a:r>
              <a:rPr lang="pt-BR" dirty="0"/>
              <a:t>: conjunto de dados relativos à mesma informação (coluna)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F2ACF9-FA01-4533-A3FA-B2653965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85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29649-172C-4A5B-A834-F1804F9E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de Banco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51D995-DA3E-4ECB-B440-8A9EFB9C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9</a:t>
            </a:fld>
            <a:endParaRPr lang="pt-BR" dirty="0"/>
          </a:p>
        </p:txBody>
      </p:sp>
      <p:sp>
        <p:nvSpPr>
          <p:cNvPr id="28" name="Tabela - Texto">
            <a:extLst>
              <a:ext uri="{FF2B5EF4-FFF2-40B4-BE49-F238E27FC236}">
                <a16:creationId xmlns:a16="http://schemas.microsoft.com/office/drawing/2014/main" id="{49165684-E503-4C9A-BEFF-B3E8DCA97727}"/>
              </a:ext>
            </a:extLst>
          </p:cNvPr>
          <p:cNvSpPr txBox="1"/>
          <p:nvPr/>
        </p:nvSpPr>
        <p:spPr>
          <a:xfrm>
            <a:off x="10179396" y="5022308"/>
            <a:ext cx="1372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i="1" dirty="0">
                <a:solidFill>
                  <a:schemeClr val="accent4"/>
                </a:solidFill>
                <a:effectLst>
                  <a:glow rad="127000">
                    <a:schemeClr val="bg1">
                      <a:alpha val="50000"/>
                    </a:schemeClr>
                  </a:glow>
                </a:effectLst>
              </a:rPr>
              <a:t>Banco</a:t>
            </a:r>
          </a:p>
          <a:p>
            <a:pPr algn="r"/>
            <a:r>
              <a:rPr lang="pt-BR" sz="2400" i="1" dirty="0">
                <a:solidFill>
                  <a:schemeClr val="accent4"/>
                </a:solidFill>
                <a:effectLst>
                  <a:glow rad="127000">
                    <a:schemeClr val="bg1">
                      <a:alpha val="50000"/>
                    </a:schemeClr>
                  </a:glow>
                </a:effectLst>
              </a:rPr>
              <a:t>de dados</a:t>
            </a:r>
          </a:p>
        </p:txBody>
      </p:sp>
      <p:graphicFrame>
        <p:nvGraphicFramePr>
          <p:cNvPr id="25" name="Tabela Vermelha">
            <a:extLst>
              <a:ext uri="{FF2B5EF4-FFF2-40B4-BE49-F238E27FC236}">
                <a16:creationId xmlns:a16="http://schemas.microsoft.com/office/drawing/2014/main" id="{2A5ED0F3-F7F4-46FF-B93D-E690780237AA}"/>
              </a:ext>
            </a:extLst>
          </p:cNvPr>
          <p:cNvGraphicFramePr>
            <a:graphicFrameLocks noGrp="1"/>
          </p:cNvGraphicFramePr>
          <p:nvPr/>
        </p:nvGraphicFramePr>
        <p:xfrm>
          <a:off x="3852815" y="1463039"/>
          <a:ext cx="7077165" cy="3017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3485">
                  <a:extLst>
                    <a:ext uri="{9D8B030D-6E8A-4147-A177-3AD203B41FA5}">
                      <a16:colId xmlns:a16="http://schemas.microsoft.com/office/drawing/2014/main" val="428081241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59047419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294509697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178610465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71092761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3055671783"/>
                    </a:ext>
                  </a:extLst>
                </a:gridCol>
                <a:gridCol w="747755">
                  <a:extLst>
                    <a:ext uri="{9D8B030D-6E8A-4147-A177-3AD203B41FA5}">
                      <a16:colId xmlns:a16="http://schemas.microsoft.com/office/drawing/2014/main" val="3893156602"/>
                    </a:ext>
                  </a:extLst>
                </a:gridCol>
              </a:tblGrid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05809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96234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08561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1450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6187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13223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8723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2585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8281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5785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80525"/>
                  </a:ext>
                </a:extLst>
              </a:tr>
            </a:tbl>
          </a:graphicData>
        </a:graphic>
      </p:graphicFrame>
      <p:graphicFrame>
        <p:nvGraphicFramePr>
          <p:cNvPr id="26" name="Tabela Amarela">
            <a:extLst>
              <a:ext uri="{FF2B5EF4-FFF2-40B4-BE49-F238E27FC236}">
                <a16:creationId xmlns:a16="http://schemas.microsoft.com/office/drawing/2014/main" id="{81FAFBF6-3BDD-4CBF-ADA1-AC06C7514C86}"/>
              </a:ext>
            </a:extLst>
          </p:cNvPr>
          <p:cNvGraphicFramePr>
            <a:graphicFrameLocks noGrp="1"/>
          </p:cNvGraphicFramePr>
          <p:nvPr/>
        </p:nvGraphicFramePr>
        <p:xfrm>
          <a:off x="3471815" y="1844039"/>
          <a:ext cx="7077165" cy="301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4445">
                  <a:extLst>
                    <a:ext uri="{9D8B030D-6E8A-4147-A177-3AD203B41FA5}">
                      <a16:colId xmlns:a16="http://schemas.microsoft.com/office/drawing/2014/main" val="4280812418"/>
                    </a:ext>
                  </a:extLst>
                </a:gridCol>
                <a:gridCol w="917215">
                  <a:extLst>
                    <a:ext uri="{9D8B030D-6E8A-4147-A177-3AD203B41FA5}">
                      <a16:colId xmlns:a16="http://schemas.microsoft.com/office/drawing/2014/main" val="59047419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4509697"/>
                    </a:ext>
                  </a:extLst>
                </a:gridCol>
                <a:gridCol w="2043699">
                  <a:extLst>
                    <a:ext uri="{9D8B030D-6E8A-4147-A177-3AD203B41FA5}">
                      <a16:colId xmlns:a16="http://schemas.microsoft.com/office/drawing/2014/main" val="1786104654"/>
                    </a:ext>
                  </a:extLst>
                </a:gridCol>
                <a:gridCol w="804276">
                  <a:extLst>
                    <a:ext uri="{9D8B030D-6E8A-4147-A177-3AD203B41FA5}">
                      <a16:colId xmlns:a16="http://schemas.microsoft.com/office/drawing/2014/main" val="271092761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3055671783"/>
                    </a:ext>
                  </a:extLst>
                </a:gridCol>
                <a:gridCol w="566780">
                  <a:extLst>
                    <a:ext uri="{9D8B030D-6E8A-4147-A177-3AD203B41FA5}">
                      <a16:colId xmlns:a16="http://schemas.microsoft.com/office/drawing/2014/main" val="3893156602"/>
                    </a:ext>
                  </a:extLst>
                </a:gridCol>
              </a:tblGrid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05809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96234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08561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1450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6187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13223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8723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2585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8281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5785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80525"/>
                  </a:ext>
                </a:extLst>
              </a:tr>
            </a:tbl>
          </a:graphicData>
        </a:graphic>
      </p:graphicFrame>
      <p:graphicFrame>
        <p:nvGraphicFramePr>
          <p:cNvPr id="23" name="Tabela Verde">
            <a:extLst>
              <a:ext uri="{FF2B5EF4-FFF2-40B4-BE49-F238E27FC236}">
                <a16:creationId xmlns:a16="http://schemas.microsoft.com/office/drawing/2014/main" id="{2C43754A-C9C3-4AF5-B330-69EEA4D77B63}"/>
              </a:ext>
            </a:extLst>
          </p:cNvPr>
          <p:cNvGraphicFramePr>
            <a:graphicFrameLocks noGrp="1"/>
          </p:cNvGraphicFramePr>
          <p:nvPr/>
        </p:nvGraphicFramePr>
        <p:xfrm>
          <a:off x="3090815" y="2225039"/>
          <a:ext cx="7077165" cy="3017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54445">
                  <a:extLst>
                    <a:ext uri="{9D8B030D-6E8A-4147-A177-3AD203B41FA5}">
                      <a16:colId xmlns:a16="http://schemas.microsoft.com/office/drawing/2014/main" val="4280812418"/>
                    </a:ext>
                  </a:extLst>
                </a:gridCol>
                <a:gridCol w="993415">
                  <a:extLst>
                    <a:ext uri="{9D8B030D-6E8A-4147-A177-3AD203B41FA5}">
                      <a16:colId xmlns:a16="http://schemas.microsoft.com/office/drawing/2014/main" val="590474194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294509697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178610465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71092761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055671783"/>
                    </a:ext>
                  </a:extLst>
                </a:gridCol>
                <a:gridCol w="928730">
                  <a:extLst>
                    <a:ext uri="{9D8B030D-6E8A-4147-A177-3AD203B41FA5}">
                      <a16:colId xmlns:a16="http://schemas.microsoft.com/office/drawing/2014/main" val="3893156602"/>
                    </a:ext>
                  </a:extLst>
                </a:gridCol>
              </a:tblGrid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05809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96234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08561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1450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6187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13223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8723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2585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8281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5785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80525"/>
                  </a:ext>
                </a:extLst>
              </a:tr>
            </a:tbl>
          </a:graphicData>
        </a:graphic>
      </p:graphicFrame>
      <p:graphicFrame>
        <p:nvGraphicFramePr>
          <p:cNvPr id="5" name="Tabela Clientes">
            <a:extLst>
              <a:ext uri="{FF2B5EF4-FFF2-40B4-BE49-F238E27FC236}">
                <a16:creationId xmlns:a16="http://schemas.microsoft.com/office/drawing/2014/main" id="{D3A12CA8-64A7-49B7-B46F-8F9D28ABAE37}"/>
              </a:ext>
            </a:extLst>
          </p:cNvPr>
          <p:cNvGraphicFramePr>
            <a:graphicFrameLocks noGrp="1"/>
          </p:cNvGraphicFramePr>
          <p:nvPr/>
        </p:nvGraphicFramePr>
        <p:xfrm>
          <a:off x="2709817" y="2596515"/>
          <a:ext cx="707716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45">
                  <a:extLst>
                    <a:ext uri="{9D8B030D-6E8A-4147-A177-3AD203B41FA5}">
                      <a16:colId xmlns:a16="http://schemas.microsoft.com/office/drawing/2014/main" val="4280812418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590474194"/>
                    </a:ext>
                  </a:extLst>
                </a:gridCol>
                <a:gridCol w="931818">
                  <a:extLst>
                    <a:ext uri="{9D8B030D-6E8A-4147-A177-3AD203B41FA5}">
                      <a16:colId xmlns:a16="http://schemas.microsoft.com/office/drawing/2014/main" val="3294509697"/>
                    </a:ext>
                  </a:extLst>
                </a:gridCol>
                <a:gridCol w="1637211">
                  <a:extLst>
                    <a:ext uri="{9D8B030D-6E8A-4147-A177-3AD203B41FA5}">
                      <a16:colId xmlns:a16="http://schemas.microsoft.com/office/drawing/2014/main" val="1786104654"/>
                    </a:ext>
                  </a:extLst>
                </a:gridCol>
                <a:gridCol w="1184366">
                  <a:extLst>
                    <a:ext uri="{9D8B030D-6E8A-4147-A177-3AD203B41FA5}">
                      <a16:colId xmlns:a16="http://schemas.microsoft.com/office/drawing/2014/main" val="2710927610"/>
                    </a:ext>
                  </a:extLst>
                </a:gridCol>
                <a:gridCol w="418011">
                  <a:extLst>
                    <a:ext uri="{9D8B030D-6E8A-4147-A177-3AD203B41FA5}">
                      <a16:colId xmlns:a16="http://schemas.microsoft.com/office/drawing/2014/main" val="3055671783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3893156602"/>
                    </a:ext>
                  </a:extLst>
                </a:gridCol>
              </a:tblGrid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CÓD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TELEFONE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DATA NASC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05809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Maria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3649-2587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R. Sete, 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25/01/1995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96234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José Cardoso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3255-4125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Av. Norte, 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Brasília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16/04/1984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08561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Marcos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6587-4858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Pça. Lagoa, 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31/07/1990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1450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Regina Marques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8745-8521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R. das Árvores, 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Campinas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01/02/1987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61872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Kelly Rodrigues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4567-1234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Av. Excel,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Niterói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23/10/1992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13223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Rodrigo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4613-8521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R. Microsoft, 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Campos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15/09/1981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8723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Fernando Cruz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6521-9854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R. dos Montes, 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Natal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22/04/1979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2585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Roberta de Sá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3265-8547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Av. das Pedras, 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Cuiabá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14/03/1994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82810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Luciana Mendes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3366-7412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Trav. Caminhos, 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Rio de Janeiro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19/12/2000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57858"/>
                  </a:ext>
                </a:extLst>
              </a:tr>
              <a:tr h="270359">
                <a:tc>
                  <a:txBody>
                    <a:bodyPr/>
                    <a:lstStyle/>
                    <a:p>
                      <a:r>
                        <a:rPr lang="pt-BR" sz="1200" dirty="0"/>
                        <a:t>1521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Fabio de Lima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6547-7410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Estr. de Cima, km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02/07/1993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80525"/>
                  </a:ext>
                </a:extLst>
              </a:tr>
            </a:tbl>
          </a:graphicData>
        </a:graphic>
      </p:graphicFrame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4F8EE46-F835-4C55-AA4D-5DC3FFCA34F3}"/>
              </a:ext>
            </a:extLst>
          </p:cNvPr>
          <p:cNvGrpSpPr/>
          <p:nvPr/>
        </p:nvGrpSpPr>
        <p:grpSpPr>
          <a:xfrm>
            <a:off x="398606" y="2596514"/>
            <a:ext cx="9388375" cy="3017520"/>
            <a:chOff x="398606" y="2129789"/>
            <a:chExt cx="9388375" cy="3017520"/>
          </a:xfrm>
        </p:grpSpPr>
        <p:sp>
          <p:nvSpPr>
            <p:cNvPr id="7" name="Tabela - Texto">
              <a:extLst>
                <a:ext uri="{FF2B5EF4-FFF2-40B4-BE49-F238E27FC236}">
                  <a16:creationId xmlns:a16="http://schemas.microsoft.com/office/drawing/2014/main" id="{8802C7B1-33DB-495D-A143-31AD88213371}"/>
                </a:ext>
              </a:extLst>
            </p:cNvPr>
            <p:cNvSpPr txBox="1"/>
            <p:nvPr/>
          </p:nvSpPr>
          <p:spPr>
            <a:xfrm>
              <a:off x="398606" y="3223051"/>
              <a:ext cx="15263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400" i="1" dirty="0">
                  <a:solidFill>
                    <a:schemeClr val="accent4"/>
                  </a:solidFill>
                  <a:effectLst>
                    <a:glow rad="127000">
                      <a:schemeClr val="bg1">
                        <a:alpha val="50000"/>
                      </a:schemeClr>
                    </a:glow>
                  </a:effectLst>
                </a:rPr>
                <a:t>Tabela</a:t>
              </a:r>
            </a:p>
            <a:p>
              <a:pPr algn="r"/>
              <a:r>
                <a:rPr lang="pt-BR" sz="2400" i="1" dirty="0">
                  <a:solidFill>
                    <a:schemeClr val="accent4"/>
                  </a:solidFill>
                  <a:effectLst>
                    <a:glow rad="127000">
                      <a:schemeClr val="bg1">
                        <a:alpha val="50000"/>
                      </a:schemeClr>
                    </a:glow>
                  </a:effectLst>
                </a:rPr>
                <a:t>(Entidade)</a:t>
              </a:r>
            </a:p>
          </p:txBody>
        </p:sp>
        <p:sp>
          <p:nvSpPr>
            <p:cNvPr id="8" name="Tabela - Caixa">
              <a:extLst>
                <a:ext uri="{FF2B5EF4-FFF2-40B4-BE49-F238E27FC236}">
                  <a16:creationId xmlns:a16="http://schemas.microsoft.com/office/drawing/2014/main" id="{9FD8B80E-E6D1-4963-8FD5-80E9E1EC47A2}"/>
                </a:ext>
              </a:extLst>
            </p:cNvPr>
            <p:cNvSpPr/>
            <p:nvPr/>
          </p:nvSpPr>
          <p:spPr>
            <a:xfrm>
              <a:off x="2709816" y="2129789"/>
              <a:ext cx="7077165" cy="301752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0" name="Tabela - Seta">
              <a:extLst>
                <a:ext uri="{FF2B5EF4-FFF2-40B4-BE49-F238E27FC236}">
                  <a16:creationId xmlns:a16="http://schemas.microsoft.com/office/drawing/2014/main" id="{0F9AE2B1-AE1D-407F-9AFC-A63CA285393D}"/>
                </a:ext>
              </a:extLst>
            </p:cNvPr>
            <p:cNvCxnSpPr>
              <a:cxnSpLocks/>
              <a:stCxn id="7" idx="3"/>
              <a:endCxn id="5" idx="1"/>
            </p:cNvCxnSpPr>
            <p:nvPr/>
          </p:nvCxnSpPr>
          <p:spPr>
            <a:xfrm flipV="1">
              <a:off x="1924986" y="3629025"/>
              <a:ext cx="784831" cy="9525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AC2952B7-E9CA-47FA-A15A-B69D1E1EA097}"/>
              </a:ext>
            </a:extLst>
          </p:cNvPr>
          <p:cNvGrpSpPr/>
          <p:nvPr/>
        </p:nvGrpSpPr>
        <p:grpSpPr>
          <a:xfrm>
            <a:off x="342500" y="2504920"/>
            <a:ext cx="9444481" cy="461665"/>
            <a:chOff x="342500" y="2038195"/>
            <a:chExt cx="9444481" cy="461665"/>
          </a:xfrm>
        </p:grpSpPr>
        <p:sp>
          <p:nvSpPr>
            <p:cNvPr id="13" name="Cabeçalho - Texto">
              <a:extLst>
                <a:ext uri="{FF2B5EF4-FFF2-40B4-BE49-F238E27FC236}">
                  <a16:creationId xmlns:a16="http://schemas.microsoft.com/office/drawing/2014/main" id="{F1258C67-2D46-41CB-A686-BE82B9CD9D0A}"/>
                </a:ext>
              </a:extLst>
            </p:cNvPr>
            <p:cNvSpPr txBox="1"/>
            <p:nvPr/>
          </p:nvSpPr>
          <p:spPr>
            <a:xfrm>
              <a:off x="342500" y="2038195"/>
              <a:ext cx="15824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400" i="1" dirty="0">
                  <a:solidFill>
                    <a:schemeClr val="accent4"/>
                  </a:solidFill>
                  <a:effectLst>
                    <a:glow rad="127000">
                      <a:schemeClr val="bg1">
                        <a:alpha val="50000"/>
                      </a:schemeClr>
                    </a:glow>
                  </a:effectLst>
                </a:rPr>
                <a:t>Cabeçalho</a:t>
              </a:r>
            </a:p>
          </p:txBody>
        </p:sp>
        <p:sp>
          <p:nvSpPr>
            <p:cNvPr id="14" name="Cabeçalho - Caixa">
              <a:extLst>
                <a:ext uri="{FF2B5EF4-FFF2-40B4-BE49-F238E27FC236}">
                  <a16:creationId xmlns:a16="http://schemas.microsoft.com/office/drawing/2014/main" id="{7DC41C18-4637-4304-AD58-A720A22541DB}"/>
                </a:ext>
              </a:extLst>
            </p:cNvPr>
            <p:cNvSpPr/>
            <p:nvPr/>
          </p:nvSpPr>
          <p:spPr>
            <a:xfrm>
              <a:off x="2709816" y="2133597"/>
              <a:ext cx="7077165" cy="238128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abeçalho - Seta">
              <a:extLst>
                <a:ext uri="{FF2B5EF4-FFF2-40B4-BE49-F238E27FC236}">
                  <a16:creationId xmlns:a16="http://schemas.microsoft.com/office/drawing/2014/main" id="{632C9155-6EF9-4549-8A5F-8BA8AEEAEE2B}"/>
                </a:ext>
              </a:extLst>
            </p:cNvPr>
            <p:cNvCxnSpPr>
              <a:cxnSpLocks/>
            </p:cNvCxnSpPr>
            <p:nvPr/>
          </p:nvCxnSpPr>
          <p:spPr>
            <a:xfrm>
              <a:off x="1924986" y="2269026"/>
              <a:ext cx="784831" cy="1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744B781-DED8-42C8-AC76-A554A8E3E2B4}"/>
              </a:ext>
            </a:extLst>
          </p:cNvPr>
          <p:cNvGrpSpPr/>
          <p:nvPr/>
        </p:nvGrpSpPr>
        <p:grpSpPr>
          <a:xfrm>
            <a:off x="2709816" y="3328742"/>
            <a:ext cx="9109196" cy="461665"/>
            <a:chOff x="2709816" y="2862017"/>
            <a:chExt cx="9109196" cy="461665"/>
          </a:xfrm>
        </p:grpSpPr>
        <p:sp>
          <p:nvSpPr>
            <p:cNvPr id="16" name="Registro - Caixa">
              <a:extLst>
                <a:ext uri="{FF2B5EF4-FFF2-40B4-BE49-F238E27FC236}">
                  <a16:creationId xmlns:a16="http://schemas.microsoft.com/office/drawing/2014/main" id="{7ADA10EB-2B24-4888-AA79-AEBAF687B4E7}"/>
                </a:ext>
              </a:extLst>
            </p:cNvPr>
            <p:cNvSpPr/>
            <p:nvPr/>
          </p:nvSpPr>
          <p:spPr>
            <a:xfrm>
              <a:off x="2709816" y="2973786"/>
              <a:ext cx="7077165" cy="238128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Registro - Texto">
              <a:extLst>
                <a:ext uri="{FF2B5EF4-FFF2-40B4-BE49-F238E27FC236}">
                  <a16:creationId xmlns:a16="http://schemas.microsoft.com/office/drawing/2014/main" id="{72280468-21D9-44E3-9F30-FB2FDF93F1B5}"/>
                </a:ext>
              </a:extLst>
            </p:cNvPr>
            <p:cNvSpPr txBox="1"/>
            <p:nvPr/>
          </p:nvSpPr>
          <p:spPr>
            <a:xfrm>
              <a:off x="10571811" y="2862017"/>
              <a:ext cx="12472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i="1" dirty="0">
                  <a:solidFill>
                    <a:schemeClr val="accent4"/>
                  </a:solidFill>
                  <a:effectLst>
                    <a:glow rad="127000">
                      <a:schemeClr val="bg1">
                        <a:alpha val="50000"/>
                      </a:schemeClr>
                    </a:glow>
                  </a:effectLst>
                </a:rPr>
                <a:t>Registro</a:t>
              </a:r>
            </a:p>
          </p:txBody>
        </p:sp>
        <p:cxnSp>
          <p:nvCxnSpPr>
            <p:cNvPr id="18" name="Registro - Seta">
              <a:extLst>
                <a:ext uri="{FF2B5EF4-FFF2-40B4-BE49-F238E27FC236}">
                  <a16:creationId xmlns:a16="http://schemas.microsoft.com/office/drawing/2014/main" id="{56CD7216-081F-413E-8345-C5E06D3358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86981" y="3100240"/>
              <a:ext cx="784831" cy="1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2E6B713D-A224-4A4A-96A0-817E0B0ACD36}"/>
              </a:ext>
            </a:extLst>
          </p:cNvPr>
          <p:cNvGrpSpPr/>
          <p:nvPr/>
        </p:nvGrpSpPr>
        <p:grpSpPr>
          <a:xfrm>
            <a:off x="3257550" y="2596514"/>
            <a:ext cx="4087766" cy="3776610"/>
            <a:chOff x="3257550" y="2129789"/>
            <a:chExt cx="4087766" cy="3776610"/>
          </a:xfrm>
        </p:grpSpPr>
        <p:sp>
          <p:nvSpPr>
            <p:cNvPr id="19" name="Campo - Texto">
              <a:extLst>
                <a:ext uri="{FF2B5EF4-FFF2-40B4-BE49-F238E27FC236}">
                  <a16:creationId xmlns:a16="http://schemas.microsoft.com/office/drawing/2014/main" id="{CF419175-0F0F-4C19-B981-E2A39D8206BB}"/>
                </a:ext>
              </a:extLst>
            </p:cNvPr>
            <p:cNvSpPr txBox="1"/>
            <p:nvPr/>
          </p:nvSpPr>
          <p:spPr>
            <a:xfrm>
              <a:off x="4846683" y="5444734"/>
              <a:ext cx="24986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i="1" dirty="0">
                  <a:solidFill>
                    <a:schemeClr val="accent4"/>
                  </a:solidFill>
                  <a:effectLst>
                    <a:glow rad="127000">
                      <a:schemeClr val="bg1">
                        <a:alpha val="50000"/>
                      </a:schemeClr>
                    </a:glow>
                  </a:effectLst>
                </a:rPr>
                <a:t>Campo (Atributo)</a:t>
              </a:r>
            </a:p>
          </p:txBody>
        </p:sp>
        <p:sp>
          <p:nvSpPr>
            <p:cNvPr id="20" name="Campo - Caixa">
              <a:extLst>
                <a:ext uri="{FF2B5EF4-FFF2-40B4-BE49-F238E27FC236}">
                  <a16:creationId xmlns:a16="http://schemas.microsoft.com/office/drawing/2014/main" id="{B424F3FB-E9C9-4D09-A77B-7939316E0B70}"/>
                </a:ext>
              </a:extLst>
            </p:cNvPr>
            <p:cNvSpPr/>
            <p:nvPr/>
          </p:nvSpPr>
          <p:spPr>
            <a:xfrm>
              <a:off x="3257550" y="2129789"/>
              <a:ext cx="1304925" cy="301752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5" name="Campo - Seta">
              <a:extLst>
                <a:ext uri="{FF2B5EF4-FFF2-40B4-BE49-F238E27FC236}">
                  <a16:creationId xmlns:a16="http://schemas.microsoft.com/office/drawing/2014/main" id="{52ABF919-095D-4DA3-957D-70B3C4950CBA}"/>
                </a:ext>
              </a:extLst>
            </p:cNvPr>
            <p:cNvCxnSpPr>
              <a:cxnSpLocks/>
              <a:stCxn id="20" idx="2"/>
              <a:endCxn id="19" idx="1"/>
            </p:cNvCxnSpPr>
            <p:nvPr/>
          </p:nvCxnSpPr>
          <p:spPr>
            <a:xfrm rot="16200000" flipH="1">
              <a:off x="4114219" y="4943103"/>
              <a:ext cx="528258" cy="936670"/>
            </a:xfrm>
            <a:prstGeom prst="bentConnector2">
              <a:avLst/>
            </a:prstGeom>
            <a:ln w="3810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921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6CF56F-C15B-4600-B6C9-CC294F22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ED34B09-C988-4FD3-A6BB-07DF4A902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2"/>
            <a:ext cx="10893136" cy="4738861"/>
          </a:xfrm>
        </p:spPr>
        <p:txBody>
          <a:bodyPr>
            <a:normAutofit/>
          </a:bodyPr>
          <a:lstStyle/>
          <a:p>
            <a:r>
              <a:rPr lang="pt-BR" b="1" dirty="0"/>
              <a:t>Chave primária(PK)</a:t>
            </a:r>
            <a:r>
              <a:rPr lang="pt-BR" dirty="0"/>
              <a:t>: é um atributo que identifica unicamente um registro na tabela e que por isso </a:t>
            </a:r>
            <a:r>
              <a:rPr lang="pt-BR" u="sng" dirty="0"/>
              <a:t>não pode ser repetido;</a:t>
            </a:r>
          </a:p>
          <a:p>
            <a:endParaRPr lang="pt-BR" u="sng" dirty="0"/>
          </a:p>
          <a:p>
            <a:r>
              <a:rPr lang="pt-BR" b="1" dirty="0"/>
              <a:t>Chave estrangeira(FK)</a:t>
            </a:r>
            <a:r>
              <a:rPr lang="pt-BR" dirty="0"/>
              <a:t>: fazem </a:t>
            </a:r>
            <a:r>
              <a:rPr lang="pt-BR" u="sng" dirty="0"/>
              <a:t>referência</a:t>
            </a:r>
            <a:r>
              <a:rPr lang="pt-BR" dirty="0"/>
              <a:t> às chaves primárias, elas servem para identificar determinadas características das chaves primárias;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F2ACF9-FA01-4533-A3FA-B2653965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554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41677-F726-CF38-2D18-37BA68A8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54582" cy="1027257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/>
              <a:t>Conceitos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DCC03B-86C9-3BD6-2934-A2D38ADE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11</a:t>
            </a:fld>
            <a:endParaRPr lang="pt-B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CC42F17-082A-F3DC-9E90-734730A08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15616"/>
            <a:ext cx="11673930" cy="402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26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6CF56F-C15B-4600-B6C9-CC294F22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ED34B09-C988-4FD3-A6BB-07DF4A90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b="1" dirty="0"/>
          </a:p>
          <a:p>
            <a:r>
              <a:rPr lang="pt-BR" b="1" dirty="0"/>
              <a:t>Consulta (</a:t>
            </a:r>
            <a:r>
              <a:rPr lang="pt-BR" b="1" i="1" dirty="0"/>
              <a:t>query</a:t>
            </a:r>
            <a:r>
              <a:rPr lang="pt-BR" b="1" dirty="0"/>
              <a:t>)</a:t>
            </a:r>
            <a:endParaRPr lang="pt-BR" dirty="0"/>
          </a:p>
          <a:p>
            <a:pPr marL="450000" lvl="1" indent="0" algn="just">
              <a:buNone/>
            </a:pPr>
            <a:r>
              <a:rPr lang="pt-BR" dirty="0"/>
              <a:t>comandos que possibilitam a obtenção, edição, inserção e exclusão de dados em uma tabela do banco de dados</a:t>
            </a:r>
          </a:p>
          <a:p>
            <a:pPr marL="450000" lvl="1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sz="2800" b="1" dirty="0">
                <a:solidFill>
                  <a:srgbClr val="00B050"/>
                </a:solidFill>
              </a:rPr>
              <a:t>--Exemplo de uma consulta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0070C0"/>
                </a:solidFill>
              </a:rPr>
              <a:t>SELECT</a:t>
            </a:r>
            <a:r>
              <a:rPr lang="pt-BR" sz="2400" dirty="0"/>
              <a:t> </a:t>
            </a:r>
          </a:p>
          <a:p>
            <a:pPr marL="0" indent="0" algn="just">
              <a:buNone/>
            </a:pPr>
            <a:r>
              <a:rPr lang="pt-BR" sz="2400" dirty="0"/>
              <a:t>	</a:t>
            </a:r>
            <a:r>
              <a:rPr lang="pt-BR" sz="2400" dirty="0" err="1"/>
              <a:t>nome_produto</a:t>
            </a:r>
            <a:r>
              <a:rPr lang="pt-BR" sz="2400" dirty="0"/>
              <a:t>, </a:t>
            </a:r>
          </a:p>
          <a:p>
            <a:pPr marL="0" indent="0" algn="just">
              <a:buNone/>
            </a:pPr>
            <a:r>
              <a:rPr lang="pt-BR" sz="2400" dirty="0"/>
              <a:t>	</a:t>
            </a:r>
            <a:r>
              <a:rPr lang="pt-BR" sz="2400" dirty="0" err="1"/>
              <a:t>preco</a:t>
            </a:r>
            <a:r>
              <a:rPr lang="pt-BR" sz="2400" dirty="0"/>
              <a:t>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0070C0"/>
                </a:solidFill>
              </a:rPr>
              <a:t>FROM</a:t>
            </a:r>
            <a:r>
              <a:rPr lang="pt-BR" sz="2400" dirty="0"/>
              <a:t> Produtos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F2ACF9-FA01-4533-A3FA-B2653965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12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31603-1295-480C-94FB-F46F225A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CCC84-2BD3-40E1-9052-8F3F604E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2"/>
            <a:ext cx="11067661" cy="5054772"/>
          </a:xfrm>
        </p:spPr>
        <p:txBody>
          <a:bodyPr>
            <a:normAutofit/>
          </a:bodyPr>
          <a:lstStyle/>
          <a:p>
            <a:r>
              <a:rPr lang="pt-BR" sz="2800" dirty="0"/>
              <a:t>O SQL não diferencia comandos e textos em letras maiúsculas ou minúsculas, ou seja, </a:t>
            </a:r>
            <a:r>
              <a:rPr lang="pt-BR" sz="28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não é </a:t>
            </a:r>
            <a:r>
              <a:rPr lang="pt-BR" sz="2800" b="1" i="1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case-</a:t>
            </a:r>
            <a:r>
              <a:rPr lang="pt-BR" sz="2800" b="1" i="1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sensitive</a:t>
            </a:r>
            <a:endParaRPr lang="pt-BR" sz="2800" b="1" i="1" dirty="0">
              <a:solidFill>
                <a:srgbClr val="202124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endParaRPr lang="pt-BR" sz="2800" b="1" i="1" dirty="0"/>
          </a:p>
          <a:p>
            <a:r>
              <a:rPr lang="pt-BR" sz="2800" dirty="0"/>
              <a:t>Textos devem ser escritos com </a:t>
            </a:r>
            <a:r>
              <a:rPr lang="pt-BR" sz="2800" b="1" u="sng" dirty="0"/>
              <a:t>apóstrofo</a:t>
            </a:r>
            <a:r>
              <a:rPr lang="pt-BR" sz="2800" dirty="0"/>
              <a:t> (exemplo: </a:t>
            </a:r>
            <a:r>
              <a:rPr lang="pt-BR" sz="2800" b="1" dirty="0"/>
              <a:t>‘Brasil’</a:t>
            </a:r>
            <a:r>
              <a:rPr lang="pt-BR" sz="2800" dirty="0"/>
              <a:t>)</a:t>
            </a:r>
          </a:p>
          <a:p>
            <a:endParaRPr lang="pt-BR" sz="2800" dirty="0"/>
          </a:p>
          <a:p>
            <a:r>
              <a:rPr lang="pt-BR" sz="2800" dirty="0"/>
              <a:t>Valores devem ser digitados na notação </a:t>
            </a:r>
          </a:p>
          <a:p>
            <a:pPr marL="0" indent="0">
              <a:buNone/>
            </a:pPr>
            <a:r>
              <a:rPr lang="pt-BR" sz="2800" dirty="0"/>
              <a:t>    americana ( decimal ) exemplo: </a:t>
            </a:r>
            <a:r>
              <a:rPr lang="pt-BR" sz="2800" b="1" i="0" dirty="0">
                <a:solidFill>
                  <a:srgbClr val="161616"/>
                </a:solidFill>
                <a:effectLst/>
                <a:latin typeface="SFMono-Regular"/>
              </a:rPr>
              <a:t>3148.29</a:t>
            </a:r>
          </a:p>
          <a:p>
            <a:pPr marL="0" indent="0">
              <a:buNone/>
            </a:pPr>
            <a:endParaRPr lang="pt-BR" sz="2800" b="1" i="0" dirty="0">
              <a:solidFill>
                <a:srgbClr val="161616"/>
              </a:solidFill>
              <a:effectLst/>
              <a:latin typeface="SFMono-Regular"/>
            </a:endParaRPr>
          </a:p>
          <a:p>
            <a:r>
              <a:rPr lang="pt-BR" sz="2800" dirty="0"/>
              <a:t>Para separar dia, mês e ano, deve-se usar a barra “</a:t>
            </a:r>
            <a:r>
              <a:rPr lang="pt-BR" sz="2800" b="1" dirty="0"/>
              <a:t>/</a:t>
            </a:r>
            <a:r>
              <a:rPr lang="pt-BR" sz="2800" dirty="0"/>
              <a:t>” ou o hífen “</a:t>
            </a:r>
            <a:r>
              <a:rPr lang="pt-BR" sz="2800" b="1" dirty="0"/>
              <a:t>-</a:t>
            </a:r>
            <a:r>
              <a:rPr lang="pt-BR" sz="2800" dirty="0"/>
              <a:t>”</a:t>
            </a:r>
          </a:p>
          <a:p>
            <a:endParaRPr lang="pt-BR" sz="28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0F011E-A26B-4A79-BD64-12FEE118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40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0B8EA-4015-45C4-127C-EFE4DDECA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comando </a:t>
            </a:r>
            <a:r>
              <a:rPr lang="pt-BR" sz="2600" dirty="0">
                <a:latin typeface="Arial Black" panose="020B0A04020102020204" pitchFamily="34" charset="0"/>
              </a:rPr>
              <a:t>SET LANGUAGE BRAZILIAN </a:t>
            </a:r>
            <a:r>
              <a:rPr lang="pt-BR" dirty="0"/>
              <a:t>serve para definir o idioma e as configurações culturais (como formatação de data, moeda, e outros aspectos regionais) para o ambiente da sessão atual do banco de dados, ou seja, exibição dos dados... .</a:t>
            </a:r>
          </a:p>
          <a:p>
            <a:endParaRPr lang="pt-BR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pt-BR" sz="2600" dirty="0">
                <a:solidFill>
                  <a:srgbClr val="00B050"/>
                </a:solidFill>
              </a:rPr>
              <a:t>-- Exemplo comando SQL</a:t>
            </a:r>
          </a:p>
          <a:p>
            <a:pPr marL="0" indent="0">
              <a:buNone/>
            </a:pPr>
            <a:r>
              <a:rPr lang="pt-BR" sz="2600" b="1" dirty="0">
                <a:solidFill>
                  <a:srgbClr val="002060"/>
                </a:solidFill>
              </a:rPr>
              <a:t>SET LANGUAGE BRAZILIAN</a:t>
            </a:r>
          </a:p>
          <a:p>
            <a:pPr marL="0" indent="0">
              <a:buNone/>
            </a:pPr>
            <a:endParaRPr lang="pt-BR" sz="2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pt-BR" sz="2600" dirty="0">
                <a:solidFill>
                  <a:srgbClr val="00B050"/>
                </a:solidFill>
              </a:rPr>
              <a:t>-- Exemplo de data ( retorne a data atual )</a:t>
            </a:r>
          </a:p>
          <a:p>
            <a:pPr marL="0" indent="0">
              <a:buNone/>
            </a:pPr>
            <a:r>
              <a:rPr lang="pt-BR" sz="2600" dirty="0">
                <a:solidFill>
                  <a:srgbClr val="002060"/>
                </a:solidFill>
              </a:rPr>
              <a:t>SELECT</a:t>
            </a:r>
            <a:r>
              <a:rPr lang="pt-BR" sz="2600" dirty="0"/>
              <a:t> </a:t>
            </a:r>
            <a:r>
              <a:rPr lang="pt-BR" sz="2600" dirty="0">
                <a:solidFill>
                  <a:srgbClr val="7030A0"/>
                </a:solidFill>
              </a:rPr>
              <a:t>GETDATE() </a:t>
            </a:r>
            <a:r>
              <a:rPr lang="pt-BR" sz="2600" dirty="0">
                <a:solidFill>
                  <a:srgbClr val="00B050"/>
                </a:solidFill>
              </a:rPr>
              <a:t>-- Retorna a data no formato brasileiro: </a:t>
            </a:r>
            <a:r>
              <a:rPr lang="pt-BR" sz="2600" b="1" dirty="0">
                <a:solidFill>
                  <a:srgbClr val="00B050"/>
                </a:solidFill>
              </a:rPr>
              <a:t>26/02/2025</a:t>
            </a:r>
            <a:endParaRPr lang="pt-BR" sz="2600" dirty="0">
              <a:solidFill>
                <a:srgbClr val="00B05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8A8E01-50C4-1C7A-1A49-615729B0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14</a:t>
            </a:fld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B7CC04A-85D0-0AA6-49FF-49315049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</p:spPr>
        <p:txBody>
          <a:bodyPr/>
          <a:lstStyle/>
          <a:p>
            <a:r>
              <a:rPr lang="pt-BR" dirty="0"/>
              <a:t>Sintaxe</a:t>
            </a:r>
          </a:p>
        </p:txBody>
      </p:sp>
    </p:spTree>
    <p:extLst>
      <p:ext uri="{BB962C8B-B14F-4D97-AF65-F5344CB8AC3E}">
        <p14:creationId xmlns:p14="http://schemas.microsoft.com/office/powerpoint/2010/main" val="388915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00676-5CE5-A711-7961-23DF8665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a partir deste momento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1A649-5774-7E97-D057-CF417F400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2"/>
            <a:ext cx="11353800" cy="4738861"/>
          </a:xfrm>
        </p:spPr>
        <p:txBody>
          <a:bodyPr>
            <a:noAutofit/>
          </a:bodyPr>
          <a:lstStyle/>
          <a:p>
            <a:pPr marL="742950" indent="-742950">
              <a:buClrTx/>
              <a:buFont typeface="+mj-lt"/>
              <a:buAutoNum type="arabicPeriod"/>
            </a:pPr>
            <a:r>
              <a:rPr lang="pt-BR" sz="2400" u="sng" dirty="0"/>
              <a:t>Para campos da tabela “Não”</a:t>
            </a:r>
            <a:r>
              <a:rPr lang="pt-BR" sz="2400" dirty="0"/>
              <a:t> utilize acentos durante a escrita do código;</a:t>
            </a:r>
          </a:p>
          <a:p>
            <a:pPr marL="742950" indent="-742950">
              <a:buClrTx/>
              <a:buFont typeface="+mj-lt"/>
              <a:buAutoNum type="arabicPeriod"/>
            </a:pPr>
            <a:endParaRPr lang="pt-BR" sz="2400" dirty="0"/>
          </a:p>
          <a:p>
            <a:pPr marL="742950" indent="-742950">
              <a:buClrTx/>
              <a:buFont typeface="+mj-lt"/>
              <a:buAutoNum type="arabicPeriod"/>
            </a:pPr>
            <a:r>
              <a:rPr lang="pt-BR" sz="2400" u="sng" dirty="0"/>
              <a:t>Não</a:t>
            </a:r>
            <a:r>
              <a:rPr lang="pt-BR" sz="2400" dirty="0"/>
              <a:t> utilize caracteres especiais durante a escrita do código;</a:t>
            </a:r>
          </a:p>
          <a:p>
            <a:pPr marL="742950" indent="-742950">
              <a:buClrTx/>
              <a:buFont typeface="+mj-lt"/>
              <a:buAutoNum type="arabicPeriod"/>
            </a:pPr>
            <a:endParaRPr lang="pt-BR" sz="2400" dirty="0"/>
          </a:p>
          <a:p>
            <a:pPr marL="742950" indent="-742950">
              <a:buClrTx/>
              <a:buFont typeface="+mj-lt"/>
              <a:buAutoNum type="arabicPeriod"/>
            </a:pPr>
            <a:r>
              <a:rPr lang="pt-BR" sz="2400" dirty="0"/>
              <a:t>Para criar um banco de dados escreva “</a:t>
            </a:r>
            <a:r>
              <a:rPr lang="pt-BR" sz="2400" b="1" dirty="0" err="1"/>
              <a:t>db</a:t>
            </a:r>
            <a:r>
              <a:rPr lang="pt-BR" sz="2400" dirty="0" err="1"/>
              <a:t>_</a:t>
            </a:r>
            <a:r>
              <a:rPr lang="pt-BR" sz="2400" b="1" dirty="0" err="1"/>
              <a:t>NomedoBanco</a:t>
            </a:r>
            <a:r>
              <a:rPr lang="pt-BR" sz="2400" dirty="0"/>
              <a:t>”;</a:t>
            </a:r>
          </a:p>
          <a:p>
            <a:pPr marL="742950" indent="-742950">
              <a:buClrTx/>
              <a:buFont typeface="+mj-lt"/>
              <a:buAutoNum type="arabicPeriod"/>
            </a:pPr>
            <a:endParaRPr lang="pt-BR" sz="2400" dirty="0"/>
          </a:p>
          <a:p>
            <a:pPr marL="742950" indent="-742950">
              <a:buClrTx/>
              <a:buFont typeface="+mj-lt"/>
              <a:buAutoNum type="arabicPeriod"/>
            </a:pPr>
            <a:r>
              <a:rPr lang="pt-BR" sz="2400" dirty="0"/>
              <a:t>Para criar uma Tabela use “</a:t>
            </a:r>
            <a:r>
              <a:rPr lang="pt-BR" sz="2400" b="1" dirty="0" err="1"/>
              <a:t>tbl</a:t>
            </a:r>
            <a:r>
              <a:rPr lang="pt-BR" sz="2400" dirty="0" err="1"/>
              <a:t>_NomedaTabela</a:t>
            </a:r>
            <a:r>
              <a:rPr lang="pt-BR" sz="2400" dirty="0"/>
              <a:t>” ou “</a:t>
            </a:r>
            <a:r>
              <a:rPr lang="pt-BR" sz="2400" b="1" dirty="0" err="1"/>
              <a:t>TB_</a:t>
            </a:r>
            <a:r>
              <a:rPr lang="pt-BR" sz="2400" dirty="0" err="1"/>
              <a:t>NomeTabela</a:t>
            </a:r>
            <a:r>
              <a:rPr lang="pt-BR" sz="2400" dirty="0"/>
              <a:t>”</a:t>
            </a:r>
          </a:p>
          <a:p>
            <a:pPr marL="742950" indent="-742950">
              <a:buClrTx/>
              <a:buFont typeface="+mj-lt"/>
              <a:buAutoNum type="arabicPeriod"/>
            </a:pPr>
            <a:endParaRPr lang="pt-BR" sz="2400" dirty="0"/>
          </a:p>
          <a:p>
            <a:pPr marL="742950" indent="-742950">
              <a:buClrTx/>
              <a:buFont typeface="+mj-lt"/>
              <a:buAutoNum type="arabicPeriod"/>
            </a:pPr>
            <a:r>
              <a:rPr lang="pt-BR" sz="2400" dirty="0"/>
              <a:t>Para salvar a Query use “</a:t>
            </a:r>
            <a:r>
              <a:rPr lang="pt-BR" sz="2400" b="1" dirty="0" err="1"/>
              <a:t>qry</a:t>
            </a:r>
            <a:r>
              <a:rPr lang="pt-BR" sz="2400" dirty="0" err="1"/>
              <a:t>_</a:t>
            </a:r>
            <a:r>
              <a:rPr lang="pt-BR" sz="2400" b="1" dirty="0" err="1"/>
              <a:t>Numero</a:t>
            </a:r>
            <a:r>
              <a:rPr lang="pt-BR" sz="2400" dirty="0" err="1"/>
              <a:t>_</a:t>
            </a:r>
            <a:r>
              <a:rPr lang="pt-BR" sz="2400" b="1" dirty="0" err="1"/>
              <a:t>Nome</a:t>
            </a:r>
            <a:r>
              <a:rPr lang="pt-BR" sz="2400" dirty="0"/>
              <a:t>” Exemplo: “qry_01_Create_DataBase”</a:t>
            </a:r>
          </a:p>
          <a:p>
            <a:pPr marL="742950" indent="-742950">
              <a:buClrTx/>
              <a:buFont typeface="+mj-lt"/>
              <a:buAutoNum type="arabicPeriod"/>
            </a:pPr>
            <a:endParaRPr lang="pt-BR" sz="2400" dirty="0"/>
          </a:p>
          <a:p>
            <a:pPr marL="742950" indent="-742950">
              <a:buFont typeface="+mj-lt"/>
              <a:buAutoNum type="arabicPeriod" startAt="5"/>
            </a:pPr>
            <a:endParaRPr lang="pt-BR" sz="2400" dirty="0"/>
          </a:p>
          <a:p>
            <a:pPr marL="742950" indent="-742950">
              <a:buFont typeface="+mj-lt"/>
              <a:buAutoNum type="arabicPeriod" startAt="5"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0D37D8-4594-D204-42F6-9066CDA9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3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8EFF5-A7E9-FEFE-1259-9885B0AD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colocar comentários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E8B1E4-2E1F-CE15-A696-F7CD5F9C3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Utilize: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sz="3200" dirty="0">
                <a:solidFill>
                  <a:srgbClr val="008000"/>
                </a:solidFill>
                <a:latin typeface="Consolas" panose="020B0609020204030204" pitchFamily="49" charset="0"/>
              </a:rPr>
              <a:t>-- (hífen 2 vezes ) para comentários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32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3200" dirty="0">
                <a:solidFill>
                  <a:srgbClr val="008000"/>
                </a:solidFill>
                <a:latin typeface="Consolas" panose="020B0609020204030204" pitchFamily="49" charset="0"/>
              </a:rPr>
              <a:t>barra asterisco serve para comentários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32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3E1E27-187D-EF08-62AA-D73730F5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58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932E1C-48D0-4D6C-8825-90BED918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/>
              <a:t>Conforme nossa apostila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906B9D9-00C9-4350-AD9A-5CB2ECC6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2800" dirty="0">
                <a:latin typeface="Montserrat" panose="00000500000000000000" pitchFamily="2" charset="0"/>
              </a:rPr>
              <a:t>Para iniciar a construção do banco de dados de um negócio, é necessário fazer o levantamento dos pré-requisitos do projeto.</a:t>
            </a:r>
          </a:p>
          <a:p>
            <a:pPr algn="just"/>
            <a:endParaRPr lang="pt-BR" sz="2800" dirty="0">
              <a:latin typeface="Montserrat" panose="00000500000000000000" pitchFamily="2" charset="0"/>
            </a:endParaRPr>
          </a:p>
          <a:p>
            <a:pPr lvl="1" algn="just">
              <a:lnSpc>
                <a:spcPct val="160000"/>
              </a:lnSpc>
              <a:buClrTx/>
              <a:buFont typeface="+mj-lt"/>
              <a:buAutoNum type="arabicPeriod"/>
            </a:pPr>
            <a:r>
              <a:rPr lang="pt-BR" sz="2000" dirty="0">
                <a:latin typeface="Montserrat" panose="00000500000000000000" pitchFamily="2" charset="0"/>
              </a:rPr>
              <a:t>Quais dados serão controlados?</a:t>
            </a:r>
          </a:p>
          <a:p>
            <a:pPr lvl="1" algn="just">
              <a:lnSpc>
                <a:spcPct val="160000"/>
              </a:lnSpc>
              <a:buClrTx/>
              <a:buFont typeface="+mj-lt"/>
              <a:buAutoNum type="arabicPeriod"/>
            </a:pPr>
            <a:r>
              <a:rPr lang="pt-BR" sz="2000" dirty="0">
                <a:latin typeface="Montserrat" panose="00000500000000000000" pitchFamily="2" charset="0"/>
              </a:rPr>
              <a:t>Quais informações serão armazenadas?</a:t>
            </a:r>
          </a:p>
          <a:p>
            <a:pPr lvl="1" algn="just">
              <a:lnSpc>
                <a:spcPct val="160000"/>
              </a:lnSpc>
              <a:buClrTx/>
              <a:buFont typeface="+mj-lt"/>
              <a:buAutoNum type="arabicPeriod"/>
            </a:pPr>
            <a:r>
              <a:rPr lang="pt-BR" sz="2000" dirty="0">
                <a:latin typeface="Montserrat" panose="00000500000000000000" pitchFamily="2" charset="0"/>
              </a:rPr>
              <a:t>Qual o objetivo da empresa?</a:t>
            </a:r>
          </a:p>
          <a:p>
            <a:pPr lvl="1" algn="just">
              <a:lnSpc>
                <a:spcPct val="160000"/>
              </a:lnSpc>
              <a:buClrTx/>
              <a:buFont typeface="+mj-lt"/>
              <a:buAutoNum type="arabicPeriod"/>
            </a:pPr>
            <a:r>
              <a:rPr lang="pt-BR" sz="2000" dirty="0">
                <a:latin typeface="Montserrat" panose="00000500000000000000" pitchFamily="2" charset="0"/>
              </a:rPr>
              <a:t>Quais são os elementos (objetos) do negócio?</a:t>
            </a:r>
          </a:p>
          <a:p>
            <a:pPr lvl="1" algn="just">
              <a:lnSpc>
                <a:spcPct val="160000"/>
              </a:lnSpc>
              <a:buClrTx/>
              <a:buFont typeface="+mj-lt"/>
              <a:buAutoNum type="arabicPeriod"/>
            </a:pPr>
            <a:r>
              <a:rPr lang="pt-BR" sz="2000" dirty="0">
                <a:latin typeface="Montserrat" panose="00000500000000000000" pitchFamily="2" charset="0"/>
              </a:rPr>
              <a:t>Quais relações serão estabelecidas entre os elementos do negócio?</a:t>
            </a:r>
          </a:p>
          <a:p>
            <a:pPr marL="1192950" lvl="1" indent="-742950" algn="just">
              <a:buClrTx/>
              <a:buFont typeface="+mj-lt"/>
              <a:buAutoNum type="arabicPeriod"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10B36-B608-41B1-86A7-7A5C090A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7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Curs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70AD47"/>
      </a:accent3>
      <a:accent4>
        <a:srgbClr val="F14124"/>
      </a:accent4>
      <a:accent5>
        <a:srgbClr val="33CCCC"/>
      </a:accent5>
      <a:accent6>
        <a:srgbClr val="ED7D31"/>
      </a:accent6>
      <a:hlink>
        <a:srgbClr val="0563C1"/>
      </a:hlink>
      <a:folHlink>
        <a:srgbClr val="954F72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759</Words>
  <Application>Microsoft Office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31" baseType="lpstr">
      <vt:lpstr>Arial</vt:lpstr>
      <vt:lpstr>Arial Black</vt:lpstr>
      <vt:lpstr>Arimo</vt:lpstr>
      <vt:lpstr>Calibri</vt:lpstr>
      <vt:lpstr>Consolas</vt:lpstr>
      <vt:lpstr>Google Sans</vt:lpstr>
      <vt:lpstr>inherit</vt:lpstr>
      <vt:lpstr>Montserrat</vt:lpstr>
      <vt:lpstr>Segoe UI</vt:lpstr>
      <vt:lpstr>Segoe UI Black</vt:lpstr>
      <vt:lpstr>SFMono-Regular</vt:lpstr>
      <vt:lpstr>Wingdings</vt:lpstr>
      <vt:lpstr>Wingdings 2</vt:lpstr>
      <vt:lpstr>Tema do Office</vt:lpstr>
      <vt:lpstr>Apresentação do PowerPoint</vt:lpstr>
      <vt:lpstr>Conceitos Entidades</vt:lpstr>
      <vt:lpstr>Conceitos Entidades</vt:lpstr>
      <vt:lpstr>Conceitos Entidades</vt:lpstr>
      <vt:lpstr>Tipos de Entidades</vt:lpstr>
      <vt:lpstr>Tipos de Entidades</vt:lpstr>
      <vt:lpstr>Tipos de Entidades</vt:lpstr>
      <vt:lpstr>Conceitos</vt:lpstr>
      <vt:lpstr>Conceitos de Banco Dados</vt:lpstr>
      <vt:lpstr>Conceitos</vt:lpstr>
      <vt:lpstr>Conceitos</vt:lpstr>
      <vt:lpstr>Conceitos</vt:lpstr>
      <vt:lpstr>Sintaxe</vt:lpstr>
      <vt:lpstr>Sintaxe</vt:lpstr>
      <vt:lpstr>Regras a partir deste momento</vt:lpstr>
      <vt:lpstr>Para colocar comentários</vt:lpstr>
      <vt:lpstr>Conforme nossa apostila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linguagem SQL</dc:title>
  <cp:lastModifiedBy>marcelo sena</cp:lastModifiedBy>
  <cp:revision>138</cp:revision>
  <cp:lastPrinted>2019-09-14T04:12:44Z</cp:lastPrinted>
  <dcterms:created xsi:type="dcterms:W3CDTF">2019-09-08T19:32:35Z</dcterms:created>
  <dcterms:modified xsi:type="dcterms:W3CDTF">2025-10-27T14:41:47Z</dcterms:modified>
</cp:coreProperties>
</file>