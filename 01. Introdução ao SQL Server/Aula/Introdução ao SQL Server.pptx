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8" r:id="rId2"/>
    <p:sldId id="302" r:id="rId3"/>
    <p:sldId id="309" r:id="rId4"/>
    <p:sldId id="314" r:id="rId5"/>
    <p:sldId id="304" r:id="rId6"/>
    <p:sldId id="311" r:id="rId7"/>
    <p:sldId id="315" r:id="rId8"/>
    <p:sldId id="324" r:id="rId9"/>
    <p:sldId id="326" r:id="rId10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5CEFEB3-061D-4B08-9410-3298C7ECCEC2}">
          <p14:sldIdLst/>
        </p14:section>
        <p14:section name="A linguagem SQL" id="{D68C392B-6A23-4937-AFF8-CD755A3E69DE}">
          <p14:sldIdLst>
            <p14:sldId id="258"/>
            <p14:sldId id="302"/>
            <p14:sldId id="309"/>
            <p14:sldId id="314"/>
            <p14:sldId id="304"/>
            <p14:sldId id="311"/>
            <p14:sldId id="315"/>
            <p14:sldId id="324"/>
            <p14:sldId id="326"/>
          </p14:sldIdLst>
        </p14:section>
        <p14:section name="Consultas SQL" id="{D8017A75-7040-4C4A-AD66-CFD347323C5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489F2-E6CA-4ECE-AC3B-C02D2F97E243}" v="72" dt="2019-09-11T21:05:55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2BE4C0-06DC-49EA-AF55-3BE07684C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23B3A2-DE5F-4862-89F4-B2B8DF5F92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94AB1C8F-FB1B-4324-A532-F8C30B383C4A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7DF6C-9F35-4667-962A-20023CA177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19A6CC-E2D5-4EBA-97AE-8CA570F8AA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AFDCD82-A8E4-4E96-9CB0-5D61B3CCF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152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39EF51A4-6AB0-480C-8050-1239BA2868DE}" type="datetimeFigureOut">
              <a:rPr lang="pt-BR" smtClean="0"/>
              <a:t>25/06/2025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4571905-D285-442D-9BD0-5B32737416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66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FB5E1-C224-49DE-A9FB-3D3D3105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559928-2CBF-4658-8107-03DDA1CBF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D3327F-7740-4483-ABCD-77112EAE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7069-5196-4648-A946-A08ECFBCE431}" type="datetime1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AE550-EC77-415E-AD7F-3DF64CD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65152-49A0-46F1-B4AE-2200C09B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50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C1844-5994-4DAF-994C-64CA39C2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0BE3B-F77B-44E6-B858-F0CC1E256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7CBF8B-F754-4CDA-9013-215ADBAA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DF6-F2D5-477F-A484-3ABB3AB4C4AB}" type="datetime1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EB505-C267-4268-A1ED-A73E586D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D53A9-8AFE-430F-B9FD-4C6228FC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02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1CF85-DA2D-4E81-8B12-5EE0AAD3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F5106-5389-45AB-AACC-4ECF2AA5E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10AB1-4241-4D63-BCDF-A5AB6378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0B1B-EE0E-4116-85A0-5AAEAEFD967F}" type="datetime1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5F9DA-36DB-4600-B079-658EE8D6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AA28A-EE85-460A-ABD3-C7A00290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3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789A7-5BE5-404E-8F8C-05EE6185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8B0B0-9AEB-471B-9663-B80EB2E4E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E64117-C07B-4875-85B9-4FAA321AE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9FF8AD-9E6A-4A5C-B412-0ACFB70D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DEF55-73F6-4F78-9746-A46F628CD087}" type="datetime1">
              <a:rPr lang="pt-BR" smtClean="0"/>
              <a:t>25/06/2025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248916-25A9-47B9-8802-FBCB1305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0F6B77-4CD1-43B7-884E-FE3378DF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41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20697-CCE6-4C23-878A-8572994B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4C6EC-A137-4045-9AC8-1A54C624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C82CB4-C2D9-4418-9DA7-5EDF9DE8D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66D326-0352-48AC-909B-EF216AF9E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1A28B6-2EF3-4BE4-8CD5-D21CF52C4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D73C5B-6D03-4D46-A08A-9A020CDA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B62E-6BE6-4253-AA72-22FA662DE82F}" type="datetime1">
              <a:rPr lang="pt-BR" smtClean="0"/>
              <a:t>25/06/2025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6E3493-DC4F-46F0-A4B9-4B95A415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CD5F1D-EFDC-4E70-B521-21790136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05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BA25D-7EA9-4DE4-AECD-BE5BC343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2BF2FC-671D-45DA-B5A8-C53CB251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64DF-D237-4D7A-A7C0-D1D93C960269}" type="datetime1">
              <a:rPr lang="pt-BR" smtClean="0"/>
              <a:t>25/06/2025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0BE9B6-80AF-49BB-BF50-3DE6DD4D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64AC62-CA5A-427B-B2A9-3E0D2772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6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F553CC9-CD1D-4782-A30D-C61A7C4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31D2-4DBB-40CE-B7B1-FD186FA9E07B}" type="datetime1">
              <a:rPr lang="pt-BR" smtClean="0"/>
              <a:t>25/06/2025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6B4985-DE76-4D9D-A51B-FBEBA7E4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FB9694-D0CC-4BF8-9326-5CF45E12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66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3CF51AA-CFA2-41EF-8165-F1A8BB9A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70C0B9-A95B-49A4-A4B9-277B90CB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8102"/>
            <a:ext cx="10515600" cy="473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DF72B-0CE1-4977-814B-4627001DB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0F721-04F4-4667-BF35-4741C80794AC}" type="datetime1">
              <a:rPr lang="pt-BR" smtClean="0"/>
              <a:t>25/06/2025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1FA7F3-D92D-425C-ABB1-36A899CA4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8ECEC5-68FC-4DDB-87C5-43263D64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78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 2" panose="05020102010507070707" pitchFamily="18" charset="2"/>
        <a:buChar char="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" panose="05000000000000000000" pitchFamily="2" charset="2"/>
        <a:buChar char="§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-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700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3C992-90A1-4E80-8580-EA907305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</a:t>
            </a:r>
            <a:r>
              <a:rPr lang="pt-BR" sz="6000" dirty="0"/>
              <a:t>dução ao SQL Server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04BEE4-249B-48F2-9690-8C59F00F6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Introdução • Visão Geral • Conceitos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2CE2E1-65C8-407E-A91E-41C0E030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FC968F-70B9-4D86-8395-E56A81E306E1}"/>
              </a:ext>
            </a:extLst>
          </p:cNvPr>
          <p:cNvSpPr txBox="1">
            <a:spLocks/>
          </p:cNvSpPr>
          <p:nvPr/>
        </p:nvSpPr>
        <p:spPr>
          <a:xfrm>
            <a:off x="831850" y="38258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3600" dirty="0"/>
          </a:p>
          <a:p>
            <a:r>
              <a:rPr lang="pt-BR" dirty="0"/>
              <a:t>Capítulo 1</a:t>
            </a:r>
          </a:p>
        </p:txBody>
      </p:sp>
    </p:spTree>
    <p:extLst>
      <p:ext uri="{BB962C8B-B14F-4D97-AF65-F5344CB8AC3E}">
        <p14:creationId xmlns:p14="http://schemas.microsoft.com/office/powerpoint/2010/main" val="6674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40D6E3-4545-5AC0-604C-BBFE8D3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</a:t>
            </a:fld>
            <a:endParaRPr lang="pt-BR" dirty="0"/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3432C897-C159-8846-E1F7-23D72FEEAE7C}"/>
              </a:ext>
            </a:extLst>
          </p:cNvPr>
          <p:cNvSpPr txBox="1">
            <a:spLocks/>
          </p:cNvSpPr>
          <p:nvPr/>
        </p:nvSpPr>
        <p:spPr>
          <a:xfrm>
            <a:off x="3262745" y="614948"/>
            <a:ext cx="5181600" cy="1106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/>
              <a:t>SQL Server x SQL</a:t>
            </a:r>
            <a:endParaRPr lang="pt-BR" dirty="0"/>
          </a:p>
          <a:p>
            <a:endParaRPr lang="pt-BR" sz="4000" dirty="0"/>
          </a:p>
        </p:txBody>
      </p:sp>
      <p:pic>
        <p:nvPicPr>
          <p:cNvPr id="1026" name="Picture 2" descr="SSMS Tips and Tricks - SQL Masters Consulting">
            <a:extLst>
              <a:ext uri="{FF2B5EF4-FFF2-40B4-BE49-F238E27FC236}">
                <a16:creationId xmlns:a16="http://schemas.microsoft.com/office/drawing/2014/main" id="{884ECC35-BA33-237F-3A5D-94FF6059D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44" y="2039891"/>
            <a:ext cx="4661202" cy="2337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guagens de Manipulação de Dados: Conheça o SQL!">
            <a:extLst>
              <a:ext uri="{FF2B5EF4-FFF2-40B4-BE49-F238E27FC236}">
                <a16:creationId xmlns:a16="http://schemas.microsoft.com/office/drawing/2014/main" id="{2973972B-5EA5-1D7D-B940-E9FEF0C05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855" y="1837152"/>
            <a:ext cx="4302081" cy="285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DE68240F-5D27-395A-39C0-FB54158C2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044" y="1552052"/>
            <a:ext cx="4752109" cy="854385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b="1" i="0" dirty="0">
                <a:solidFill>
                  <a:srgbClr val="040C28"/>
                </a:solidFill>
                <a:effectLst/>
                <a:latin typeface="Google Sans"/>
              </a:rPr>
              <a:t>Produto </a:t>
            </a:r>
            <a:r>
              <a:rPr lang="pt-BR" b="1" i="0" dirty="0">
                <a:solidFill>
                  <a:srgbClr val="040C28"/>
                </a:solidFill>
                <a:effectLst/>
                <a:latin typeface="Google Sans"/>
              </a:rPr>
              <a:t>Microsoft</a:t>
            </a:r>
            <a:endParaRPr lang="pt-BR" sz="6600" b="1" i="0" dirty="0">
              <a:solidFill>
                <a:srgbClr val="4D5156"/>
              </a:solidFill>
              <a:effectLst/>
              <a:latin typeface="Google Sans"/>
            </a:endParaRPr>
          </a:p>
          <a:p>
            <a:pPr marL="0" indent="0" algn="ctr">
              <a:buNone/>
            </a:pP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F878E299-F6C5-F911-24B8-A345645E515D}"/>
              </a:ext>
            </a:extLst>
          </p:cNvPr>
          <p:cNvCxnSpPr>
            <a:cxnSpLocks/>
          </p:cNvCxnSpPr>
          <p:nvPr/>
        </p:nvCxnSpPr>
        <p:spPr>
          <a:xfrm flipH="1">
            <a:off x="3797902" y="1167997"/>
            <a:ext cx="763707" cy="5530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5F9E261-6CAA-B252-D61F-357E6F22F7D0}"/>
              </a:ext>
            </a:extLst>
          </p:cNvPr>
          <p:cNvCxnSpPr>
            <a:cxnSpLocks/>
          </p:cNvCxnSpPr>
          <p:nvPr/>
        </p:nvCxnSpPr>
        <p:spPr>
          <a:xfrm>
            <a:off x="7193975" y="1188817"/>
            <a:ext cx="635176" cy="5114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70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fade/>
      </p:transition>
    </mc:Choice>
    <mc:Fallback xmlns="">
      <p:transition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903D2-F2BC-F742-EA2C-13397CCE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71802" cy="939972"/>
          </a:xfrm>
        </p:spPr>
        <p:txBody>
          <a:bodyPr>
            <a:noAutofit/>
          </a:bodyPr>
          <a:lstStyle/>
          <a:p>
            <a:r>
              <a:rPr lang="pt-BR" sz="2800" dirty="0"/>
              <a:t>Com SQL você pode especializar-se na área de sua preferência, veja a seguir: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456D62-1A43-6D40-A5DC-C4CE6496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3</a:t>
            </a:fld>
            <a:endParaRPr lang="pt-BR" dirty="0"/>
          </a:p>
        </p:txBody>
      </p:sp>
      <p:pic>
        <p:nvPicPr>
          <p:cNvPr id="7170" name="Picture 2" descr="image 1">
            <a:extLst>
              <a:ext uri="{FF2B5EF4-FFF2-40B4-BE49-F238E27FC236}">
                <a16:creationId xmlns:a16="http://schemas.microsoft.com/office/drawing/2014/main" id="{5A2B1155-C2F9-16C7-FC73-B8CE849E4E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305098"/>
            <a:ext cx="9671801" cy="555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91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F424A-A415-6B96-AC0D-765F22D9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SQL Server </a:t>
            </a:r>
            <a:br>
              <a:rPr lang="pt-BR" dirty="0"/>
            </a:br>
            <a:r>
              <a:rPr lang="pt-BR" dirty="0"/>
              <a:t>integração com outras tecnologias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718CD0-17A3-D1DB-134B-D8C193B2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4</a:t>
            </a:fld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EFDA388-519E-ACF8-2C2F-4C0F32C77163}"/>
              </a:ext>
            </a:extLst>
          </p:cNvPr>
          <p:cNvGrpSpPr/>
          <p:nvPr/>
        </p:nvGrpSpPr>
        <p:grpSpPr>
          <a:xfrm>
            <a:off x="3308868" y="1539422"/>
            <a:ext cx="4472862" cy="4881270"/>
            <a:chOff x="3308868" y="1539422"/>
            <a:chExt cx="4472862" cy="4881270"/>
          </a:xfrm>
        </p:grpSpPr>
        <p:pic>
          <p:nvPicPr>
            <p:cNvPr id="10246" name="Picture 6" descr="80.891 imagens, fotos stock, objetos 3D e vetores de Linguagens de  programação | Shutterstock">
              <a:extLst>
                <a:ext uri="{FF2B5EF4-FFF2-40B4-BE49-F238E27FC236}">
                  <a16:creationId xmlns:a16="http://schemas.microsoft.com/office/drawing/2014/main" id="{6E0E067E-CE90-56E9-D909-058CA1D25D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8868" y="1539422"/>
              <a:ext cx="4472862" cy="4816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867808BF-AB69-E66A-CECD-3CE4CD77104A}"/>
                </a:ext>
              </a:extLst>
            </p:cNvPr>
            <p:cNvSpPr/>
            <p:nvPr/>
          </p:nvSpPr>
          <p:spPr>
            <a:xfrm>
              <a:off x="3308868" y="6055567"/>
              <a:ext cx="3978340" cy="3651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63209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711C5-2856-AE1B-1FE1-4ECD78E6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408610"/>
            <a:ext cx="10515600" cy="939972"/>
          </a:xfrm>
        </p:spPr>
        <p:txBody>
          <a:bodyPr>
            <a:normAutofit fontScale="90000"/>
          </a:bodyPr>
          <a:lstStyle/>
          <a:p>
            <a:r>
              <a:rPr lang="pt-BR" dirty="0"/>
              <a:t>Ranking de Bancos de Dados</a:t>
            </a:r>
            <a:br>
              <a:rPr lang="pt-BR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FB38A1-E4B6-A547-F98E-EE536E08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5</a:t>
            </a:fld>
            <a:endParaRPr lang="pt-BR" dirty="0"/>
          </a:p>
        </p:txBody>
      </p:sp>
      <p:pic>
        <p:nvPicPr>
          <p:cNvPr id="2050" name="Picture 2" descr="Ranking dos 10 SGBDs mais usados">
            <a:extLst>
              <a:ext uri="{FF2B5EF4-FFF2-40B4-BE49-F238E27FC236}">
                <a16:creationId xmlns:a16="http://schemas.microsoft.com/office/drawing/2014/main" id="{4D238669-BEC2-02BB-2EB6-AF9CCC9775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438275"/>
            <a:ext cx="10918371" cy="473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01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998C70-D76A-E169-93B5-0297E255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6</a:t>
            </a:fld>
            <a:endParaRPr lang="pt-BR" dirty="0"/>
          </a:p>
        </p:txBody>
      </p:sp>
      <p:pic>
        <p:nvPicPr>
          <p:cNvPr id="9218" name="Picture 2" descr="Representação gráfica de como funciona o business intelligence:&#10;&#10;Passo 1: Coleta de dados&#10;Passo 2: Análise de dados&#10;Passo 3: Visualização de dados&#10;Passo 4: Tomada de decisão">
            <a:extLst>
              <a:ext uri="{FF2B5EF4-FFF2-40B4-BE49-F238E27FC236}">
                <a16:creationId xmlns:a16="http://schemas.microsoft.com/office/drawing/2014/main" id="{D6FA235F-0BA7-05C2-8D8C-BAC97C3D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45" y="648974"/>
            <a:ext cx="11475028" cy="552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59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usiness Intelligence – Porque sua empresa precisa dessa estratégia">
            <a:extLst>
              <a:ext uri="{FF2B5EF4-FFF2-40B4-BE49-F238E27FC236}">
                <a16:creationId xmlns:a16="http://schemas.microsoft.com/office/drawing/2014/main" id="{3263B552-D945-6602-7819-58834F87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56464" cy="249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61661-E84D-575C-E649-0A0FE2AD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7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1FCE93-4B62-08A4-235A-CC2439390060}"/>
              </a:ext>
            </a:extLst>
          </p:cNvPr>
          <p:cNvSpPr txBox="1"/>
          <p:nvPr/>
        </p:nvSpPr>
        <p:spPr>
          <a:xfrm>
            <a:off x="4694854" y="0"/>
            <a:ext cx="71611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dirty="0">
                <a:solidFill>
                  <a:srgbClr val="212C43"/>
                </a:solidFill>
                <a:effectLst/>
                <a:latin typeface="PT Sans" panose="020F0502020204030204" pitchFamily="34" charset="0"/>
              </a:rPr>
              <a:t>Para que serve?</a:t>
            </a:r>
          </a:p>
          <a:p>
            <a:pPr algn="l"/>
            <a:endParaRPr lang="pt-BR" sz="2400" b="0" i="0" dirty="0">
              <a:solidFill>
                <a:srgbClr val="212C43"/>
              </a:solidFill>
              <a:effectLst/>
              <a:latin typeface="PT Sans" panose="020F050202020403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sz="2400" dirty="0">
                <a:solidFill>
                  <a:srgbClr val="212C43"/>
                </a:solidFill>
                <a:latin typeface="PT Sans" panose="020F0502020204030204" pitchFamily="34" charset="0"/>
              </a:rPr>
              <a:t>Fornecer</a:t>
            </a:r>
            <a:r>
              <a:rPr lang="pt-BR" sz="2400" b="0" i="0" dirty="0">
                <a:solidFill>
                  <a:srgbClr val="212C43"/>
                </a:solidFill>
                <a:effectLst/>
                <a:latin typeface="PT Sans" panose="020F0502020204030204" pitchFamily="34" charset="0"/>
              </a:rPr>
              <a:t> uma visão completa de como anda a empresa de modo preciso e rápido;</a:t>
            </a:r>
          </a:p>
          <a:p>
            <a:pPr marL="514350" indent="-514350" algn="l">
              <a:buFont typeface="+mj-lt"/>
              <a:buAutoNum type="arabicPeriod"/>
            </a:pPr>
            <a:endParaRPr lang="pt-BR" sz="2400" dirty="0">
              <a:solidFill>
                <a:srgbClr val="212C43"/>
              </a:solidFill>
              <a:latin typeface="PT Sans" panose="020F050202020403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sz="2400" b="0" i="0" dirty="0">
                <a:solidFill>
                  <a:srgbClr val="212C43"/>
                </a:solidFill>
                <a:effectLst/>
                <a:latin typeface="PT Sans" panose="020F0502020204030204" pitchFamily="34" charset="0"/>
              </a:rPr>
              <a:t>Mede o desempenho do passado para prever o futuro;</a:t>
            </a:r>
          </a:p>
          <a:p>
            <a:pPr marL="514350" indent="-514350" algn="l">
              <a:buFont typeface="+mj-lt"/>
              <a:buAutoNum type="arabicPeriod"/>
            </a:pPr>
            <a:endParaRPr lang="pt-BR" sz="2400" b="0" i="0" dirty="0">
              <a:solidFill>
                <a:srgbClr val="212C43"/>
              </a:solidFill>
              <a:effectLst/>
              <a:latin typeface="PT Sans" panose="020F050202020403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pt-BR" sz="2400" b="0" i="0" dirty="0">
                <a:solidFill>
                  <a:srgbClr val="212C43"/>
                </a:solidFill>
                <a:effectLst/>
                <a:latin typeface="PT Sans" panose="020F0502020204030204" pitchFamily="34" charset="0"/>
              </a:rPr>
              <a:t>É de extrema importância que um gestor possa tomar decisões de maneira rápida</a:t>
            </a:r>
            <a:r>
              <a:rPr lang="pt-BR" sz="2400" dirty="0">
                <a:solidFill>
                  <a:srgbClr val="212C43"/>
                </a:solidFill>
                <a:latin typeface="PT Sans" panose="020F0502020204030204" pitchFamily="34" charset="0"/>
              </a:rPr>
              <a:t> e assertiva;</a:t>
            </a:r>
          </a:p>
          <a:p>
            <a:pPr marL="514350" indent="-514350" algn="l">
              <a:buFont typeface="+mj-lt"/>
              <a:buAutoNum type="arabicPeriod"/>
            </a:pPr>
            <a:endParaRPr lang="pt-BR" sz="2400" b="0" i="0" dirty="0">
              <a:solidFill>
                <a:srgbClr val="212C43"/>
              </a:solidFill>
              <a:effectLst/>
              <a:latin typeface="PT Sans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2400" b="0" i="0" dirty="0">
                <a:solidFill>
                  <a:srgbClr val="212C43"/>
                </a:solidFill>
                <a:effectLst/>
                <a:latin typeface="PT Sans" panose="020F0502020204030204" pitchFamily="34" charset="0"/>
              </a:rPr>
              <a:t>Antecipar problemas e cenários futuros;</a:t>
            </a:r>
          </a:p>
        </p:txBody>
      </p:sp>
    </p:spTree>
    <p:extLst>
      <p:ext uri="{BB962C8B-B14F-4D97-AF65-F5344CB8AC3E}">
        <p14:creationId xmlns:p14="http://schemas.microsoft.com/office/powerpoint/2010/main" val="263693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5" name="Rectangle 310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8" name="Picture 6" descr="Papel do gerente de projetos de TI: explore as principais habilidades e  responsabilidades">
            <a:extLst>
              <a:ext uri="{FF2B5EF4-FFF2-40B4-BE49-F238E27FC236}">
                <a16:creationId xmlns:a16="http://schemas.microsoft.com/office/drawing/2014/main" id="{81629F86-4B31-C7E9-CEB0-8DDDEADE23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25" r="95" b="1869"/>
          <a:stretch/>
        </p:blipFill>
        <p:spPr bwMode="auto">
          <a:xfrm>
            <a:off x="19" y="-9625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16" name="Rectangle 310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17" name="Rectangle: Rounded Corners 3110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6EFEF8-A211-DF9F-1D87-9201147F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9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EA9E3B6-737F-4CA7-98B8-1381CDCC1EA2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64ADA6-F809-B745-72D9-81F4438E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34" y="5372100"/>
            <a:ext cx="9078562" cy="9361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O </a:t>
            </a:r>
            <a:r>
              <a:rPr lang="en-US" sz="5400" dirty="0" err="1">
                <a:solidFill>
                  <a:schemeClr val="tx1"/>
                </a:solidFill>
              </a:rPr>
              <a:t>projeto</a:t>
            </a:r>
            <a:r>
              <a:rPr lang="en-US" sz="5400" dirty="0">
                <a:solidFill>
                  <a:schemeClr val="tx1"/>
                </a:solidFill>
              </a:rPr>
              <a:t>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85667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30AB4-3900-3591-CB63-68CCEAE0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guardar no banco de dados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E3FD89-8C07-769A-A5EC-7416503D1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07030"/>
            <a:ext cx="9947565" cy="41493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O dono do negócio chamado “</a:t>
            </a:r>
            <a:r>
              <a:rPr lang="pt-BR" b="1" dirty="0" err="1"/>
              <a:t>Product</a:t>
            </a:r>
            <a:r>
              <a:rPr lang="pt-BR" b="1" dirty="0"/>
              <a:t> </a:t>
            </a:r>
            <a:r>
              <a:rPr lang="pt-BR" b="1" dirty="0" err="1"/>
              <a:t>Owner</a:t>
            </a:r>
            <a:r>
              <a:rPr lang="pt-BR" dirty="0"/>
              <a:t>” também conhecido como </a:t>
            </a:r>
            <a:r>
              <a:rPr lang="pt-BR" b="1" dirty="0"/>
              <a:t>PO</a:t>
            </a:r>
            <a:r>
              <a:rPr lang="pt-BR" dirty="0"/>
              <a:t> faz a entrevista com o cliente para entender o negócio.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Após a entrevista deverá ser criado um modelo representado por um diagrama de Entidade-Relacionamento(ER), para organizar e representar as entidades e os relacionamentos entre elas.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54689B-9303-1A1C-EBCD-2B7DFA3E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11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Curs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70AD47"/>
      </a:accent3>
      <a:accent4>
        <a:srgbClr val="F14124"/>
      </a:accent4>
      <a:accent5>
        <a:srgbClr val="33CCCC"/>
      </a:accent5>
      <a:accent6>
        <a:srgbClr val="ED7D31"/>
      </a:accent6>
      <a:hlink>
        <a:srgbClr val="0563C1"/>
      </a:hlink>
      <a:folHlink>
        <a:srgbClr val="954F72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172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9" baseType="lpstr">
      <vt:lpstr>Arial</vt:lpstr>
      <vt:lpstr>Calibri</vt:lpstr>
      <vt:lpstr>Google Sans</vt:lpstr>
      <vt:lpstr>Montserrat</vt:lpstr>
      <vt:lpstr>PT Sans</vt:lpstr>
      <vt:lpstr>Segoe UI</vt:lpstr>
      <vt:lpstr>Segoe UI Black</vt:lpstr>
      <vt:lpstr>Wingdings</vt:lpstr>
      <vt:lpstr>Wingdings 2</vt:lpstr>
      <vt:lpstr>Tema do Office</vt:lpstr>
      <vt:lpstr>Introdução ao SQL Server</vt:lpstr>
      <vt:lpstr>Apresentação do PowerPoint</vt:lpstr>
      <vt:lpstr>Com SQL você pode especializar-se na área de sua preferência, veja a seguir:</vt:lpstr>
      <vt:lpstr>SQL Server  integração com outras tecnologias</vt:lpstr>
      <vt:lpstr>Ranking de Bancos de Dados </vt:lpstr>
      <vt:lpstr>Apresentação do PowerPoint</vt:lpstr>
      <vt:lpstr>Apresentação do PowerPoint</vt:lpstr>
      <vt:lpstr>O projeto banco de dados</vt:lpstr>
      <vt:lpstr>O que guardar no banco de dados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linguagem SQL</dc:title>
  <dc:creator>OPTIMUSPRIME</dc:creator>
  <cp:lastModifiedBy>marcelo sena</cp:lastModifiedBy>
  <cp:revision>181</cp:revision>
  <cp:lastPrinted>2019-09-14T04:12:44Z</cp:lastPrinted>
  <dcterms:created xsi:type="dcterms:W3CDTF">2019-09-08T19:32:35Z</dcterms:created>
  <dcterms:modified xsi:type="dcterms:W3CDTF">2025-06-25T17:32:28Z</dcterms:modified>
</cp:coreProperties>
</file>